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chart>
    <c:title>
      <c:tx>
        <c:rich>
          <a:bodyPr/>
          <a:lstStyle/>
          <a:p>
            <a:r>
              <a:t>Cloud Market Share</a:t>
            </a:r>
          </a:p>
        </c:rich>
      </c:tx>
      <c:layout/>
      <c:overlay val="0"/>
    </c:title>
    <c:autoTitleDeleted val="0"/>
    <c:plotArea>
      <c:pieChart>
        <c:varyColors val="1"/>
        <c:ser>
          <c:idx val="0"/>
          <c:order val="0"/>
          <c:tx>
            <c:strRef>
              <c:f>Sheet1!$B$1</c:f>
              <c:strCache>
                <c:ptCount val="1"/>
                <c:pt idx="0">
                  <c:v>Share</c:v>
                </c:pt>
              </c:strCache>
            </c:strRef>
          </c:tx>
          <c:cat>
            <c:strRef>
              <c:f>Sheet1!$A$2:$A$7</c:f>
              <c:strCache>
                <c:ptCount val="6"/>
                <c:pt idx="0">
                  <c:v>AWS</c:v>
                </c:pt>
                <c:pt idx="1">
                  <c:v>Azure</c:v>
                </c:pt>
                <c:pt idx="2">
                  <c:v>Google Cloud</c:v>
                </c:pt>
                <c:pt idx="3">
                  <c:v>Alibaba</c:v>
                </c:pt>
                <c:pt idx="4">
                  <c:v>Oracle</c:v>
                </c:pt>
                <c:pt idx="5">
                  <c:v>Other</c:v>
                </c:pt>
              </c:strCache>
            </c:strRef>
          </c:cat>
          <c:val>
            <c:numRef>
              <c:f>Sheet1!$B$2:$B$7</c:f>
              <c:numCache>
                <c:formatCode>General</c:formatCode>
                <c:ptCount val="6"/>
                <c:pt idx="0">
                  <c:v>32</c:v>
                </c:pt>
                <c:pt idx="1">
                  <c:v>23</c:v>
                </c:pt>
                <c:pt idx="2">
                  <c:v>11</c:v>
                </c:pt>
                <c:pt idx="3">
                  <c:v>4</c:v>
                </c:pt>
                <c:pt idx="4">
                  <c:v>3</c:v>
                </c:pt>
                <c:pt idx="5">
                  <c:v>27</c:v>
                </c:pt>
              </c:numCache>
            </c:numRef>
          </c:val>
        </c:ser>
      </c:pieChart>
    </c:plotArea>
    <c:legend>
      <c:legendPos/>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8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058400" cy="1371600"/>
          </a:xfrm>
          <a:prstGeom prst="rect">
            <a:avLst/>
          </a:prstGeom>
          <a:noFill/>
        </p:spPr>
        <p:txBody>
          <a:bodyPr wrap="square">
            <a:spAutoFit/>
          </a:bodyPr>
          <a:lstStyle/>
          <a:p>
            <a:pPr algn="l"/>
            <a:r>
              <a:rPr sz="4400" b="1" i="0">
                <a:solidFill>
                  <a:srgbClr val="1F77B4"/>
                </a:solidFill>
                <a:latin typeface="Calibri"/>
              </a:rPr>
              <a:t>Data Center Industry Report</a:t>
            </a:r>
          </a:p>
        </p:txBody>
      </p:sp>
      <p:sp>
        <p:nvSpPr>
          <p:cNvPr id="4" name="TextBox 3"/>
          <p:cNvSpPr txBox="1"/>
          <p:nvPr/>
        </p:nvSpPr>
        <p:spPr>
          <a:xfrm>
            <a:off x="914400" y="3657600"/>
            <a:ext cx="10058400" cy="548640"/>
          </a:xfrm>
          <a:prstGeom prst="rect">
            <a:avLst/>
          </a:prstGeom>
          <a:noFill/>
        </p:spPr>
        <p:txBody>
          <a:bodyPr wrap="square">
            <a:spAutoFit/>
          </a:bodyPr>
          <a:lstStyle/>
          <a:p>
            <a:pPr algn="l"/>
            <a:r>
              <a:rPr sz="2200" b="0" i="1">
                <a:solidFill>
                  <a:srgbClr val="333333"/>
                </a:solidFill>
                <a:latin typeface="Calibri"/>
              </a:rPr>
              <a:t>An Overview of the Cloud Infrastructure Market</a:t>
            </a:r>
          </a:p>
        </p:txBody>
      </p:sp>
      <p:sp>
        <p:nvSpPr>
          <p:cNvPr id="5" name="TextBox 4"/>
          <p:cNvSpPr txBox="1"/>
          <p:nvPr/>
        </p:nvSpPr>
        <p:spPr>
          <a:xfrm>
            <a:off x="914400" y="5943600"/>
            <a:ext cx="10058400" cy="365760"/>
          </a:xfrm>
          <a:prstGeom prst="rect">
            <a:avLst/>
          </a:prstGeom>
          <a:noFill/>
        </p:spPr>
        <p:txBody>
          <a:bodyPr wrap="square">
            <a:spAutoFit/>
          </a:bodyPr>
          <a:lstStyle/>
          <a:p>
            <a:pPr algn="l"/>
            <a:r>
              <a:rPr sz="1200" b="0" i="0">
                <a:solidFill>
                  <a:srgbClr val="999999"/>
                </a:solidFill>
                <a:latin typeface="Calibri"/>
              </a:rPr>
              <a:t>Prepared by: Iris Meng  |  May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1460175" cy="548640"/>
          </a:xfrm>
          <a:prstGeom prst="rect">
            <a:avLst/>
          </a:prstGeom>
          <a:noFill/>
        </p:spPr>
        <p:txBody>
          <a:bodyPr wrap="square">
            <a:spAutoFit/>
          </a:bodyPr>
          <a:lstStyle/>
          <a:p>
            <a:pPr algn="l"/>
            <a:r>
              <a:rPr sz="2800" b="1" i="0">
                <a:solidFill>
                  <a:srgbClr val="FFFFFF"/>
                </a:solidFill>
                <a:latin typeface="Calibri"/>
              </a:rPr>
              <a:t>Agenda</a:t>
            </a:r>
          </a:p>
        </p:txBody>
      </p:sp>
      <p:sp>
        <p:nvSpPr>
          <p:cNvPr id="4" name="TextBox 3"/>
          <p:cNvSpPr txBox="1"/>
          <p:nvPr/>
        </p:nvSpPr>
        <p:spPr>
          <a:xfrm>
            <a:off x="1097280" y="1463040"/>
            <a:ext cx="10058400" cy="457200"/>
          </a:xfrm>
          <a:prstGeom prst="rect">
            <a:avLst/>
          </a:prstGeom>
          <a:noFill/>
        </p:spPr>
        <p:txBody>
          <a:bodyPr wrap="square">
            <a:spAutoFit/>
          </a:bodyPr>
          <a:lstStyle/>
          <a:p>
            <a:pPr algn="l"/>
            <a:r>
              <a:rPr sz="2000" b="0" i="0">
                <a:solidFill>
                  <a:srgbClr val="333333"/>
                </a:solidFill>
                <a:latin typeface="Calibri"/>
              </a:rPr>
              <a:t>1.  Introduction</a:t>
            </a:r>
          </a:p>
        </p:txBody>
      </p:sp>
      <p:sp>
        <p:nvSpPr>
          <p:cNvPr id="5" name="TextBox 4"/>
          <p:cNvSpPr txBox="1"/>
          <p:nvPr/>
        </p:nvSpPr>
        <p:spPr>
          <a:xfrm>
            <a:off x="1097280" y="2011680"/>
            <a:ext cx="10058400" cy="457200"/>
          </a:xfrm>
          <a:prstGeom prst="rect">
            <a:avLst/>
          </a:prstGeom>
          <a:noFill/>
        </p:spPr>
        <p:txBody>
          <a:bodyPr wrap="square">
            <a:spAutoFit/>
          </a:bodyPr>
          <a:lstStyle/>
          <a:p>
            <a:pPr algn="l"/>
            <a:r>
              <a:rPr sz="2000" b="0" i="0">
                <a:solidFill>
                  <a:srgbClr val="333333"/>
                </a:solidFill>
                <a:latin typeface="Calibri"/>
              </a:rPr>
              <a:t>2.  Market Overview</a:t>
            </a:r>
          </a:p>
        </p:txBody>
      </p:sp>
      <p:sp>
        <p:nvSpPr>
          <p:cNvPr id="6" name="TextBox 5"/>
          <p:cNvSpPr txBox="1"/>
          <p:nvPr/>
        </p:nvSpPr>
        <p:spPr>
          <a:xfrm>
            <a:off x="1097280" y="2560320"/>
            <a:ext cx="10058400" cy="457200"/>
          </a:xfrm>
          <a:prstGeom prst="rect">
            <a:avLst/>
          </a:prstGeom>
          <a:noFill/>
        </p:spPr>
        <p:txBody>
          <a:bodyPr wrap="square">
            <a:spAutoFit/>
          </a:bodyPr>
          <a:lstStyle/>
          <a:p>
            <a:pPr algn="l"/>
            <a:r>
              <a:rPr sz="2000" b="0" i="0">
                <a:solidFill>
                  <a:srgbClr val="333333"/>
                </a:solidFill>
                <a:latin typeface="Calibri"/>
              </a:rPr>
              <a:t>3.  Key Players in the Industry</a:t>
            </a:r>
          </a:p>
        </p:txBody>
      </p:sp>
      <p:sp>
        <p:nvSpPr>
          <p:cNvPr id="7" name="TextBox 6"/>
          <p:cNvSpPr txBox="1"/>
          <p:nvPr/>
        </p:nvSpPr>
        <p:spPr>
          <a:xfrm>
            <a:off x="1097280" y="3108960"/>
            <a:ext cx="10058400" cy="457200"/>
          </a:xfrm>
          <a:prstGeom prst="rect">
            <a:avLst/>
          </a:prstGeom>
          <a:noFill/>
        </p:spPr>
        <p:txBody>
          <a:bodyPr wrap="square">
            <a:spAutoFit/>
          </a:bodyPr>
          <a:lstStyle/>
          <a:p>
            <a:pPr algn="l"/>
            <a:r>
              <a:rPr sz="2000" b="0" i="0">
                <a:solidFill>
                  <a:srgbClr val="333333"/>
                </a:solidFill>
                <a:latin typeface="Calibri"/>
              </a:rPr>
              <a:t>4.  Major Market Trends</a:t>
            </a:r>
          </a:p>
        </p:txBody>
      </p:sp>
      <p:sp>
        <p:nvSpPr>
          <p:cNvPr id="8" name="TextBox 7"/>
          <p:cNvSpPr txBox="1"/>
          <p:nvPr/>
        </p:nvSpPr>
        <p:spPr>
          <a:xfrm>
            <a:off x="1097280" y="3657600"/>
            <a:ext cx="10058400" cy="457200"/>
          </a:xfrm>
          <a:prstGeom prst="rect">
            <a:avLst/>
          </a:prstGeom>
          <a:noFill/>
        </p:spPr>
        <p:txBody>
          <a:bodyPr wrap="square">
            <a:spAutoFit/>
          </a:bodyPr>
          <a:lstStyle/>
          <a:p>
            <a:pPr algn="l"/>
            <a:r>
              <a:rPr sz="2000" b="0" i="0">
                <a:solidFill>
                  <a:srgbClr val="333333"/>
                </a:solidFill>
                <a:latin typeface="Calibri"/>
              </a:rPr>
              <a:t>5.  Challenges and Opportunities</a:t>
            </a:r>
          </a:p>
        </p:txBody>
      </p:sp>
      <p:sp>
        <p:nvSpPr>
          <p:cNvPr id="9" name="TextBox 8"/>
          <p:cNvSpPr txBox="1"/>
          <p:nvPr/>
        </p:nvSpPr>
        <p:spPr>
          <a:xfrm>
            <a:off x="1097280" y="4206240"/>
            <a:ext cx="10058400" cy="457200"/>
          </a:xfrm>
          <a:prstGeom prst="rect">
            <a:avLst/>
          </a:prstGeom>
          <a:noFill/>
        </p:spPr>
        <p:txBody>
          <a:bodyPr wrap="square">
            <a:spAutoFit/>
          </a:bodyPr>
          <a:lstStyle/>
          <a:p>
            <a:pPr algn="l"/>
            <a:r>
              <a:rPr sz="2000" b="0" i="0">
                <a:solidFill>
                  <a:srgbClr val="333333"/>
                </a:solidFill>
                <a:latin typeface="Calibri"/>
              </a:rPr>
              <a:t>6.  Future Outlook</a:t>
            </a:r>
          </a:p>
        </p:txBody>
      </p:sp>
      <p:sp>
        <p:nvSpPr>
          <p:cNvPr id="10" name="TextBox 9"/>
          <p:cNvSpPr txBox="1"/>
          <p:nvPr/>
        </p:nvSpPr>
        <p:spPr>
          <a:xfrm>
            <a:off x="1097280" y="4754879"/>
            <a:ext cx="10058400" cy="457200"/>
          </a:xfrm>
          <a:prstGeom prst="rect">
            <a:avLst/>
          </a:prstGeom>
          <a:noFill/>
        </p:spPr>
        <p:txBody>
          <a:bodyPr wrap="square">
            <a:spAutoFit/>
          </a:bodyPr>
          <a:lstStyle/>
          <a:p>
            <a:pPr algn="l"/>
            <a:r>
              <a:rPr sz="2000" b="0" i="0">
                <a:solidFill>
                  <a:srgbClr val="333333"/>
                </a:solidFill>
                <a:latin typeface="Calibri"/>
              </a:rPr>
              <a:t>7.  Conclusion and Q&amp;A</a:t>
            </a:r>
          </a:p>
        </p:txBody>
      </p:sp>
      <p:sp>
        <p:nvSpPr>
          <p:cNvPr id="11" name="TextBox 10"/>
          <p:cNvSpPr txBox="1"/>
          <p:nvPr/>
        </p:nvSpPr>
        <p:spPr>
          <a:xfrm>
            <a:off x="365760" y="6537960"/>
            <a:ext cx="3657600" cy="228600"/>
          </a:xfrm>
          <a:prstGeom prst="rect">
            <a:avLst/>
          </a:prstGeom>
          <a:noFill/>
        </p:spPr>
        <p:txBody>
          <a:bodyPr wrap="square">
            <a:spAutoFit/>
          </a:bodyPr>
          <a:lstStyle/>
          <a:p>
            <a:pPr algn="l"/>
            <a:r>
              <a:rPr sz="900" b="0" i="1">
                <a:solidFill>
                  <a:srgbClr val="999999"/>
                </a:solidFill>
                <a:latin typeface="Calibri"/>
              </a:rPr>
              <a:t>CONFIDENTIAL — Internal Use Only</a:t>
            </a:r>
          </a:p>
        </p:txBody>
      </p:sp>
      <p:sp>
        <p:nvSpPr>
          <p:cNvPr id="12" name="TextBox 11"/>
          <p:cNvSpPr txBox="1"/>
          <p:nvPr/>
        </p:nvSpPr>
        <p:spPr>
          <a:xfrm>
            <a:off x="5029200" y="6537960"/>
            <a:ext cx="1828800" cy="228600"/>
          </a:xfrm>
          <a:prstGeom prst="rect">
            <a:avLst/>
          </a:prstGeom>
          <a:noFill/>
        </p:spPr>
        <p:txBody>
          <a:bodyPr wrap="square">
            <a:spAutoFit/>
          </a:bodyPr>
          <a:lstStyle/>
          <a:p>
            <a:pPr algn="ctr"/>
            <a:r>
              <a:rPr sz="900" b="0" i="0">
                <a:solidFill>
                  <a:srgbClr val="999999"/>
                </a:solidFill>
                <a:latin typeface="Calibri"/>
              </a:rPr>
              <a:t>May 2026</a:t>
            </a:r>
          </a:p>
        </p:txBody>
      </p:sp>
      <p:sp>
        <p:nvSpPr>
          <p:cNvPr id="13" name="TextBox 12"/>
          <p:cNvSpPr txBox="1"/>
          <p:nvPr/>
        </p:nvSpPr>
        <p:spPr>
          <a:xfrm>
            <a:off x="10820095" y="6537960"/>
            <a:ext cx="914400" cy="228600"/>
          </a:xfrm>
          <a:prstGeom prst="rect">
            <a:avLst/>
          </a:prstGeom>
          <a:noFill/>
        </p:spPr>
        <p:txBody>
          <a:bodyPr wrap="square">
            <a:spAutoFit/>
          </a:bodyPr>
          <a:lstStyle/>
          <a:p>
            <a:pPr algn="r"/>
            <a:r>
              <a:rPr sz="900" b="0" i="0">
                <a:solidFill>
                  <a:srgbClr val="999999"/>
                </a:solidFill>
                <a:latin typeface="Calibri"/>
              </a:rP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1460175" cy="548640"/>
          </a:xfrm>
          <a:prstGeom prst="rect">
            <a:avLst/>
          </a:prstGeom>
          <a:noFill/>
        </p:spPr>
        <p:txBody>
          <a:bodyPr wrap="square">
            <a:spAutoFit/>
          </a:bodyPr>
          <a:lstStyle/>
          <a:p>
            <a:pPr algn="l"/>
            <a:r>
              <a:rPr sz="2800" b="1" i="0">
                <a:solidFill>
                  <a:srgbClr val="FFFFFF"/>
                </a:solidFill>
                <a:latin typeface="Calibri"/>
              </a:rPr>
              <a:t>Introduction</a:t>
            </a:r>
          </a:p>
        </p:txBody>
      </p:sp>
      <p:sp>
        <p:nvSpPr>
          <p:cNvPr id="4" name="Oval 3"/>
          <p:cNvSpPr/>
          <p:nvPr/>
        </p:nvSpPr>
        <p:spPr>
          <a:xfrm>
            <a:off x="548640" y="1280160"/>
            <a:ext cx="731520" cy="73152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i</a:t>
            </a:r>
          </a:p>
        </p:txBody>
      </p:sp>
      <p:sp>
        <p:nvSpPr>
          <p:cNvPr id="5" name="TextBox 4"/>
          <p:cNvSpPr txBox="1"/>
          <p:nvPr/>
        </p:nvSpPr>
        <p:spPr>
          <a:xfrm>
            <a:off x="1554480" y="1371600"/>
            <a:ext cx="10058400" cy="457200"/>
          </a:xfrm>
          <a:prstGeom prst="rect">
            <a:avLst/>
          </a:prstGeom>
          <a:noFill/>
        </p:spPr>
        <p:txBody>
          <a:bodyPr wrap="square">
            <a:spAutoFit/>
          </a:bodyPr>
          <a:lstStyle/>
          <a:p>
            <a:pPr algn="l"/>
            <a:r>
              <a:rPr sz="1800" b="1" i="0">
                <a:solidFill>
                  <a:srgbClr val="1F77B4"/>
                </a:solidFill>
                <a:latin typeface="Calibri"/>
              </a:rPr>
              <a:t>About this report</a:t>
            </a:r>
          </a:p>
        </p:txBody>
      </p:sp>
      <p:sp>
        <p:nvSpPr>
          <p:cNvPr id="6" name="TextBox 5"/>
          <p:cNvSpPr txBox="1"/>
          <p:nvPr/>
        </p:nvSpPr>
        <p:spPr>
          <a:xfrm>
            <a:off x="1554480" y="1828800"/>
            <a:ext cx="10058400" cy="4114800"/>
          </a:xfrm>
          <a:prstGeom prst="rect">
            <a:avLst/>
          </a:prstGeom>
          <a:noFill/>
        </p:spPr>
        <p:txBody>
          <a:bodyPr wrap="square">
            <a:spAutoFit/>
          </a:bodyPr>
          <a:lstStyle/>
          <a:p>
            <a:pPr algn="l"/>
            <a:r>
              <a:rPr sz="1400" b="0" i="0">
                <a:solidFill>
                  <a:srgbClr val="333333"/>
                </a:solidFill>
                <a:latin typeface="Calibri"/>
              </a:rPr>
              <a:t>The data center industry is one of the most important sectors in the modern economy — driving cloud computing, artificial intelligence, and digital transformation across every industry vertical. This report provides a comprehensive overview of the data center landscape, including market sizing, competitive dynamics, key trends, and future outlook.
We will explore how hyperscale providers and colocation operators compete, where new capacity is being built, and what the next several years of infrastructure investment will look like — with particular attention to the transformative impact of AI workloads.</a:t>
            </a:r>
          </a:p>
        </p:txBody>
      </p:sp>
      <p:sp>
        <p:nvSpPr>
          <p:cNvPr id="7" name="TextBox 6"/>
          <p:cNvSpPr txBox="1"/>
          <p:nvPr/>
        </p:nvSpPr>
        <p:spPr>
          <a:xfrm>
            <a:off x="365760" y="6537960"/>
            <a:ext cx="3657600" cy="228600"/>
          </a:xfrm>
          <a:prstGeom prst="rect">
            <a:avLst/>
          </a:prstGeom>
          <a:noFill/>
        </p:spPr>
        <p:txBody>
          <a:bodyPr wrap="square">
            <a:spAutoFit/>
          </a:bodyPr>
          <a:lstStyle/>
          <a:p>
            <a:pPr algn="l"/>
            <a:r>
              <a:rPr sz="900" b="0" i="1">
                <a:solidFill>
                  <a:srgbClr val="999999"/>
                </a:solidFill>
                <a:latin typeface="Calibri"/>
              </a:rPr>
              <a:t>CONFIDENTIAL — Internal Use Only</a:t>
            </a:r>
          </a:p>
        </p:txBody>
      </p:sp>
      <p:sp>
        <p:nvSpPr>
          <p:cNvPr id="8" name="TextBox 7"/>
          <p:cNvSpPr txBox="1"/>
          <p:nvPr/>
        </p:nvSpPr>
        <p:spPr>
          <a:xfrm>
            <a:off x="5029200" y="6537960"/>
            <a:ext cx="1828800" cy="228600"/>
          </a:xfrm>
          <a:prstGeom prst="rect">
            <a:avLst/>
          </a:prstGeom>
          <a:noFill/>
        </p:spPr>
        <p:txBody>
          <a:bodyPr wrap="square">
            <a:spAutoFit/>
          </a:bodyPr>
          <a:lstStyle/>
          <a:p>
            <a:pPr algn="ctr"/>
            <a:r>
              <a:rPr sz="900" b="0" i="0">
                <a:solidFill>
                  <a:srgbClr val="999999"/>
                </a:solidFill>
                <a:latin typeface="Calibri"/>
              </a:rPr>
              <a:t>May 2026</a:t>
            </a:r>
          </a:p>
        </p:txBody>
      </p:sp>
      <p:sp>
        <p:nvSpPr>
          <p:cNvPr id="9" name="TextBox 8"/>
          <p:cNvSpPr txBox="1"/>
          <p:nvPr/>
        </p:nvSpPr>
        <p:spPr>
          <a:xfrm>
            <a:off x="10820095" y="6537960"/>
            <a:ext cx="914400" cy="228600"/>
          </a:xfrm>
          <a:prstGeom prst="rect">
            <a:avLst/>
          </a:prstGeom>
          <a:noFill/>
        </p:spPr>
        <p:txBody>
          <a:bodyPr wrap="square">
            <a:spAutoFit/>
          </a:bodyPr>
          <a:lstStyle/>
          <a:p>
            <a:pPr algn="r"/>
            <a:r>
              <a:rPr sz="900" b="0" i="0">
                <a:solidFill>
                  <a:srgbClr val="999999"/>
                </a:solidFill>
                <a:latin typeface="Calibri"/>
              </a:rP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1460175" cy="548640"/>
          </a:xfrm>
          <a:prstGeom prst="rect">
            <a:avLst/>
          </a:prstGeom>
          <a:noFill/>
        </p:spPr>
        <p:txBody>
          <a:bodyPr wrap="square">
            <a:spAutoFit/>
          </a:bodyPr>
          <a:lstStyle/>
          <a:p>
            <a:pPr algn="l"/>
            <a:r>
              <a:rPr sz="2800" b="1" i="0">
                <a:solidFill>
                  <a:srgbClr val="FFFFFF"/>
                </a:solidFill>
                <a:latin typeface="Calibri"/>
              </a:rPr>
              <a:t>Market Overview</a:t>
            </a:r>
          </a:p>
        </p:txBody>
      </p:sp>
      <p:sp>
        <p:nvSpPr>
          <p:cNvPr id="4" name="Oval 3"/>
          <p:cNvSpPr/>
          <p:nvPr/>
        </p:nvSpPr>
        <p:spPr>
          <a:xfrm>
            <a:off x="548640" y="1280160"/>
            <a:ext cx="731520" cy="731520"/>
          </a:xfrm>
          <a:prstGeom prst="ellipse">
            <a:avLst/>
          </a:prstGeom>
          <a:solidFill>
            <a:srgbClr val="FF7F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M</a:t>
            </a:r>
          </a:p>
        </p:txBody>
      </p:sp>
      <p:sp>
        <p:nvSpPr>
          <p:cNvPr id="5" name="TextBox 4"/>
          <p:cNvSpPr txBox="1"/>
          <p:nvPr/>
        </p:nvSpPr>
        <p:spPr>
          <a:xfrm>
            <a:off x="1554480" y="1371600"/>
            <a:ext cx="10058400" cy="457200"/>
          </a:xfrm>
          <a:prstGeom prst="rect">
            <a:avLst/>
          </a:prstGeom>
          <a:noFill/>
        </p:spPr>
        <p:txBody>
          <a:bodyPr wrap="square">
            <a:spAutoFit/>
          </a:bodyPr>
          <a:lstStyle/>
          <a:p>
            <a:pPr algn="l"/>
            <a:r>
              <a:rPr sz="1800" b="1" i="0">
                <a:solidFill>
                  <a:srgbClr val="1F77B4"/>
                </a:solidFill>
                <a:latin typeface="Calibri"/>
              </a:rPr>
              <a:t>Key statistics</a:t>
            </a:r>
          </a:p>
        </p:txBody>
      </p:sp>
      <p:sp>
        <p:nvSpPr>
          <p:cNvPr id="6" name="TextBox 5"/>
          <p:cNvSpPr txBox="1"/>
          <p:nvPr/>
        </p:nvSpPr>
        <p:spPr>
          <a:xfrm>
            <a:off x="1554480" y="1828800"/>
            <a:ext cx="10058400" cy="4572000"/>
          </a:xfrm>
          <a:prstGeom prst="rect">
            <a:avLst/>
          </a:prstGeom>
          <a:noFill/>
        </p:spPr>
        <p:txBody>
          <a:bodyPr wrap="square">
            <a:spAutoFit/>
          </a:bodyPr>
          <a:lstStyle/>
          <a:p>
            <a:pPr>
              <a:lnSpc>
                <a:spcPct val="140000"/>
              </a:lnSpc>
            </a:pPr>
            <a:r>
              <a:rPr sz="1400">
                <a:solidFill>
                  <a:srgbClr val="333333"/>
                </a:solidFill>
                <a:latin typeface="Calibri"/>
              </a:rPr>
              <a:t>•  The global data center market is large and growing rapidly</a:t>
            </a:r>
          </a:p>
          <a:p>
            <a:pPr>
              <a:lnSpc>
                <a:spcPct val="140000"/>
              </a:lnSpc>
            </a:pPr>
            <a:r>
              <a:rPr sz="1400">
                <a:solidFill>
                  <a:srgbClr val="333333"/>
                </a:solidFill>
                <a:latin typeface="Calibri"/>
              </a:rPr>
              <a:t>•  Cloud infrastructure spending is increasing year over year</a:t>
            </a:r>
          </a:p>
          <a:p>
            <a:pPr>
              <a:lnSpc>
                <a:spcPct val="140000"/>
              </a:lnSpc>
            </a:pPr>
            <a:r>
              <a:rPr sz="1400">
                <a:solidFill>
                  <a:srgbClr val="333333"/>
                </a:solidFill>
                <a:latin typeface="Calibri"/>
              </a:rPr>
              <a:t>•  Hyperscale providers are the largest segment of the market</a:t>
            </a:r>
          </a:p>
          <a:p>
            <a:pPr>
              <a:lnSpc>
                <a:spcPct val="140000"/>
              </a:lnSpc>
            </a:pPr>
            <a:r>
              <a:rPr sz="1400">
                <a:solidFill>
                  <a:srgbClr val="333333"/>
                </a:solidFill>
                <a:latin typeface="Calibri"/>
              </a:rPr>
              <a:t>•  Colocation continues to play an important role for enterprises</a:t>
            </a:r>
          </a:p>
          <a:p>
            <a:pPr>
              <a:lnSpc>
                <a:spcPct val="140000"/>
              </a:lnSpc>
            </a:pPr>
            <a:r>
              <a:rPr sz="1400">
                <a:solidFill>
                  <a:srgbClr val="333333"/>
                </a:solidFill>
                <a:latin typeface="Calibri"/>
              </a:rPr>
              <a:t>•  AI workloads are a major driver of new capacity</a:t>
            </a:r>
          </a:p>
          <a:p>
            <a:pPr>
              <a:lnSpc>
                <a:spcPct val="140000"/>
              </a:lnSpc>
            </a:pPr>
            <a:r>
              <a:rPr sz="1400">
                <a:solidFill>
                  <a:srgbClr val="333333"/>
                </a:solidFill>
                <a:latin typeface="Calibri"/>
              </a:rPr>
              <a:t>•  Power and cooling are increasingly important considerations</a:t>
            </a:r>
          </a:p>
          <a:p>
            <a:pPr>
              <a:lnSpc>
                <a:spcPct val="140000"/>
              </a:lnSpc>
            </a:pPr>
            <a:r>
              <a:rPr sz="1400">
                <a:solidFill>
                  <a:srgbClr val="333333"/>
                </a:solidFill>
                <a:latin typeface="Calibri"/>
              </a:rPr>
              <a:t>•  Sustainability is a growing focus for operators and customers alike</a:t>
            </a:r>
          </a:p>
          <a:p>
            <a:pPr>
              <a:lnSpc>
                <a:spcPct val="140000"/>
              </a:lnSpc>
            </a:pPr>
            <a:r>
              <a:rPr sz="1400">
                <a:solidFill>
                  <a:srgbClr val="333333"/>
                </a:solidFill>
                <a:latin typeface="Calibri"/>
              </a:rPr>
              <a:t>•  The industry is geographically diverse with strong regional players</a:t>
            </a:r>
          </a:p>
        </p:txBody>
      </p:sp>
      <p:sp>
        <p:nvSpPr>
          <p:cNvPr id="7" name="TextBox 6"/>
          <p:cNvSpPr txBox="1"/>
          <p:nvPr/>
        </p:nvSpPr>
        <p:spPr>
          <a:xfrm>
            <a:off x="365760" y="6537960"/>
            <a:ext cx="3657600" cy="228600"/>
          </a:xfrm>
          <a:prstGeom prst="rect">
            <a:avLst/>
          </a:prstGeom>
          <a:noFill/>
        </p:spPr>
        <p:txBody>
          <a:bodyPr wrap="square">
            <a:spAutoFit/>
          </a:bodyPr>
          <a:lstStyle/>
          <a:p>
            <a:pPr algn="l"/>
            <a:r>
              <a:rPr sz="900" b="0" i="1">
                <a:solidFill>
                  <a:srgbClr val="999999"/>
                </a:solidFill>
                <a:latin typeface="Calibri"/>
              </a:rPr>
              <a:t>CONFIDENTIAL — Internal Use Only</a:t>
            </a:r>
          </a:p>
        </p:txBody>
      </p:sp>
      <p:sp>
        <p:nvSpPr>
          <p:cNvPr id="8" name="TextBox 7"/>
          <p:cNvSpPr txBox="1"/>
          <p:nvPr/>
        </p:nvSpPr>
        <p:spPr>
          <a:xfrm>
            <a:off x="5029200" y="6537960"/>
            <a:ext cx="1828800" cy="228600"/>
          </a:xfrm>
          <a:prstGeom prst="rect">
            <a:avLst/>
          </a:prstGeom>
          <a:noFill/>
        </p:spPr>
        <p:txBody>
          <a:bodyPr wrap="square">
            <a:spAutoFit/>
          </a:bodyPr>
          <a:lstStyle/>
          <a:p>
            <a:pPr algn="ctr"/>
            <a:r>
              <a:rPr sz="900" b="0" i="0">
                <a:solidFill>
                  <a:srgbClr val="999999"/>
                </a:solidFill>
                <a:latin typeface="Calibri"/>
              </a:rPr>
              <a:t>May 2026</a:t>
            </a:r>
          </a:p>
        </p:txBody>
      </p:sp>
      <p:sp>
        <p:nvSpPr>
          <p:cNvPr id="9" name="TextBox 8"/>
          <p:cNvSpPr txBox="1"/>
          <p:nvPr/>
        </p:nvSpPr>
        <p:spPr>
          <a:xfrm>
            <a:off x="10820095" y="6537960"/>
            <a:ext cx="914400" cy="228600"/>
          </a:xfrm>
          <a:prstGeom prst="rect">
            <a:avLst/>
          </a:prstGeom>
          <a:noFill/>
        </p:spPr>
        <p:txBody>
          <a:bodyPr wrap="square">
            <a:spAutoFit/>
          </a:bodyPr>
          <a:lstStyle/>
          <a:p>
            <a:pPr algn="r"/>
            <a:r>
              <a:rPr sz="900" b="0" i="0">
                <a:solidFill>
                  <a:srgbClr val="999999"/>
                </a:solidFill>
                <a:latin typeface="Calibri"/>
              </a:rP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1460175" cy="548640"/>
          </a:xfrm>
          <a:prstGeom prst="rect">
            <a:avLst/>
          </a:prstGeom>
          <a:noFill/>
        </p:spPr>
        <p:txBody>
          <a:bodyPr wrap="square">
            <a:spAutoFit/>
          </a:bodyPr>
          <a:lstStyle/>
          <a:p>
            <a:pPr algn="l"/>
            <a:r>
              <a:rPr sz="2800" b="1" i="0">
                <a:solidFill>
                  <a:srgbClr val="FFFFFF"/>
                </a:solidFill>
                <a:latin typeface="Calibri"/>
              </a:rPr>
              <a:t>Key Players</a:t>
            </a:r>
          </a:p>
        </p:txBody>
      </p:sp>
      <p:graphicFrame>
        <p:nvGraphicFramePr>
          <p:cNvPr id="4" name="Chart 3"/>
          <p:cNvGraphicFramePr>
            <a:graphicFrameLocks noGrp="1"/>
          </p:cNvGraphicFramePr>
          <p:nvPr/>
        </p:nvGraphicFramePr>
        <p:xfrm>
          <a:off x="457200" y="1188720"/>
          <a:ext cx="6400800" cy="5029200"/>
        </p:xfrm>
        <a:graphic>
          <a:graphicData uri="http://schemas.openxmlformats.org/drawingml/2006/chart">
            <c:chart xmlns:c="http://schemas.openxmlformats.org/drawingml/2006/chart" r:id="rId2"/>
          </a:graphicData>
        </a:graphic>
      </p:graphicFrame>
      <p:sp>
        <p:nvSpPr>
          <p:cNvPr id="5" name="TextBox 4"/>
          <p:cNvSpPr txBox="1"/>
          <p:nvPr/>
        </p:nvSpPr>
        <p:spPr>
          <a:xfrm>
            <a:off x="7315200" y="1371600"/>
            <a:ext cx="4572000" cy="457200"/>
          </a:xfrm>
          <a:prstGeom prst="rect">
            <a:avLst/>
          </a:prstGeom>
          <a:noFill/>
        </p:spPr>
        <p:txBody>
          <a:bodyPr wrap="square">
            <a:spAutoFit/>
          </a:bodyPr>
          <a:lstStyle/>
          <a:p>
            <a:pPr algn="l"/>
            <a:r>
              <a:rPr sz="1600" b="1" i="0">
                <a:solidFill>
                  <a:srgbClr val="1F77B4"/>
                </a:solidFill>
                <a:latin typeface="Calibri"/>
              </a:rPr>
              <a:t>Major hyperscale providers:</a:t>
            </a:r>
          </a:p>
        </p:txBody>
      </p:sp>
      <p:sp>
        <p:nvSpPr>
          <p:cNvPr id="6" name="TextBox 5"/>
          <p:cNvSpPr txBox="1"/>
          <p:nvPr/>
        </p:nvSpPr>
        <p:spPr>
          <a:xfrm>
            <a:off x="7315200" y="1920240"/>
            <a:ext cx="4572000" cy="4572000"/>
          </a:xfrm>
          <a:prstGeom prst="rect">
            <a:avLst/>
          </a:prstGeom>
          <a:noFill/>
        </p:spPr>
        <p:txBody>
          <a:bodyPr wrap="square">
            <a:spAutoFit/>
          </a:bodyPr>
          <a:lstStyle/>
          <a:p>
            <a:pPr>
              <a:lnSpc>
                <a:spcPct val="130000"/>
              </a:lnSpc>
            </a:pPr>
            <a:r>
              <a:rPr sz="1300">
                <a:solidFill>
                  <a:srgbClr val="333333"/>
                </a:solidFill>
                <a:latin typeface="Calibri"/>
              </a:rPr>
              <a:t>•  Amazon Web Services — the market leader</a:t>
            </a:r>
          </a:p>
          <a:p>
            <a:pPr>
              <a:lnSpc>
                <a:spcPct val="130000"/>
              </a:lnSpc>
            </a:pPr>
            <a:r>
              <a:rPr sz="1300">
                <a:solidFill>
                  <a:srgbClr val="333333"/>
                </a:solidFill>
                <a:latin typeface="Calibri"/>
              </a:rPr>
              <a:t>•  Microsoft Azure — strong enterprise position</a:t>
            </a:r>
          </a:p>
          <a:p>
            <a:pPr>
              <a:lnSpc>
                <a:spcPct val="130000"/>
              </a:lnSpc>
            </a:pPr>
            <a:r>
              <a:rPr sz="1300">
                <a:solidFill>
                  <a:srgbClr val="333333"/>
                </a:solidFill>
                <a:latin typeface="Calibri"/>
              </a:rPr>
              <a:t>•  Google Cloud — known for AI and data analytics</a:t>
            </a:r>
          </a:p>
          <a:p>
            <a:pPr>
              <a:lnSpc>
                <a:spcPct val="130000"/>
              </a:lnSpc>
            </a:pPr>
            <a:r>
              <a:rPr sz="1300">
                <a:solidFill>
                  <a:srgbClr val="333333"/>
                </a:solidFill>
                <a:latin typeface="Calibri"/>
              </a:rPr>
              <a:t>•  Alibaba Cloud — leader in Asia-Pacific</a:t>
            </a:r>
          </a:p>
          <a:p>
            <a:pPr>
              <a:lnSpc>
                <a:spcPct val="130000"/>
              </a:lnSpc>
            </a:pPr>
            <a:r>
              <a:rPr sz="1300">
                <a:solidFill>
                  <a:srgbClr val="333333"/>
                </a:solidFill>
                <a:latin typeface="Calibri"/>
              </a:rPr>
              <a:t>•  Oracle Cloud — focused on enterprise applications</a:t>
            </a:r>
          </a:p>
        </p:txBody>
      </p:sp>
      <p:sp>
        <p:nvSpPr>
          <p:cNvPr id="7" name="TextBox 6"/>
          <p:cNvSpPr txBox="1"/>
          <p:nvPr/>
        </p:nvSpPr>
        <p:spPr>
          <a:xfrm>
            <a:off x="365760" y="6537960"/>
            <a:ext cx="3657600" cy="228600"/>
          </a:xfrm>
          <a:prstGeom prst="rect">
            <a:avLst/>
          </a:prstGeom>
          <a:noFill/>
        </p:spPr>
        <p:txBody>
          <a:bodyPr wrap="square">
            <a:spAutoFit/>
          </a:bodyPr>
          <a:lstStyle/>
          <a:p>
            <a:pPr algn="l"/>
            <a:r>
              <a:rPr sz="900" b="0" i="1">
                <a:solidFill>
                  <a:srgbClr val="999999"/>
                </a:solidFill>
                <a:latin typeface="Calibri"/>
              </a:rPr>
              <a:t>CONFIDENTIAL — Internal Use Only</a:t>
            </a:r>
          </a:p>
        </p:txBody>
      </p:sp>
      <p:sp>
        <p:nvSpPr>
          <p:cNvPr id="8" name="TextBox 7"/>
          <p:cNvSpPr txBox="1"/>
          <p:nvPr/>
        </p:nvSpPr>
        <p:spPr>
          <a:xfrm>
            <a:off x="5029200" y="6537960"/>
            <a:ext cx="1828800" cy="228600"/>
          </a:xfrm>
          <a:prstGeom prst="rect">
            <a:avLst/>
          </a:prstGeom>
          <a:noFill/>
        </p:spPr>
        <p:txBody>
          <a:bodyPr wrap="square">
            <a:spAutoFit/>
          </a:bodyPr>
          <a:lstStyle/>
          <a:p>
            <a:pPr algn="ctr"/>
            <a:r>
              <a:rPr sz="900" b="0" i="0">
                <a:solidFill>
                  <a:srgbClr val="999999"/>
                </a:solidFill>
                <a:latin typeface="Calibri"/>
              </a:rPr>
              <a:t>May 2026</a:t>
            </a:r>
          </a:p>
        </p:txBody>
      </p:sp>
      <p:sp>
        <p:nvSpPr>
          <p:cNvPr id="9" name="TextBox 8"/>
          <p:cNvSpPr txBox="1"/>
          <p:nvPr/>
        </p:nvSpPr>
        <p:spPr>
          <a:xfrm>
            <a:off x="10820095" y="6537960"/>
            <a:ext cx="914400" cy="228600"/>
          </a:xfrm>
          <a:prstGeom prst="rect">
            <a:avLst/>
          </a:prstGeom>
          <a:noFill/>
        </p:spPr>
        <p:txBody>
          <a:bodyPr wrap="square">
            <a:spAutoFit/>
          </a:bodyPr>
          <a:lstStyle/>
          <a:p>
            <a:pPr algn="r"/>
            <a:r>
              <a:rPr sz="900" b="0" i="0">
                <a:solidFill>
                  <a:srgbClr val="999999"/>
                </a:solidFill>
                <a:latin typeface="Calibri"/>
              </a:rP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1460175" cy="548640"/>
          </a:xfrm>
          <a:prstGeom prst="rect">
            <a:avLst/>
          </a:prstGeom>
          <a:noFill/>
        </p:spPr>
        <p:txBody>
          <a:bodyPr wrap="square">
            <a:spAutoFit/>
          </a:bodyPr>
          <a:lstStyle/>
          <a:p>
            <a:pPr algn="l"/>
            <a:r>
              <a:rPr sz="2800" b="1" i="0">
                <a:solidFill>
                  <a:srgbClr val="FFFFFF"/>
                </a:solidFill>
                <a:latin typeface="Calibri"/>
              </a:rPr>
              <a:t>Major Market Trends</a:t>
            </a:r>
          </a:p>
        </p:txBody>
      </p:sp>
      <p:sp>
        <p:nvSpPr>
          <p:cNvPr id="4" name="Oval 3"/>
          <p:cNvSpPr/>
          <p:nvPr/>
        </p:nvSpPr>
        <p:spPr>
          <a:xfrm>
            <a:off x="548640" y="1280160"/>
            <a:ext cx="731520" cy="731520"/>
          </a:xfrm>
          <a:prstGeom prst="ellipse">
            <a:avLst/>
          </a:prstGeom>
          <a:solidFill>
            <a:srgbClr val="FF7F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T</a:t>
            </a:r>
          </a:p>
        </p:txBody>
      </p:sp>
      <p:sp>
        <p:nvSpPr>
          <p:cNvPr id="5" name="TextBox 4"/>
          <p:cNvSpPr txBox="1"/>
          <p:nvPr/>
        </p:nvSpPr>
        <p:spPr>
          <a:xfrm>
            <a:off x="1554480" y="1371600"/>
            <a:ext cx="10058400" cy="457200"/>
          </a:xfrm>
          <a:prstGeom prst="rect">
            <a:avLst/>
          </a:prstGeom>
          <a:noFill/>
        </p:spPr>
        <p:txBody>
          <a:bodyPr wrap="square">
            <a:spAutoFit/>
          </a:bodyPr>
          <a:lstStyle/>
          <a:p>
            <a:pPr algn="l"/>
            <a:r>
              <a:rPr sz="1800" b="1" i="0">
                <a:solidFill>
                  <a:srgbClr val="1F77B4"/>
                </a:solidFill>
                <a:latin typeface="Calibri"/>
              </a:rPr>
              <a:t>Trends shaping the future of data centers</a:t>
            </a:r>
          </a:p>
        </p:txBody>
      </p:sp>
      <p:sp>
        <p:nvSpPr>
          <p:cNvPr id="6" name="TextBox 5"/>
          <p:cNvSpPr txBox="1"/>
          <p:nvPr/>
        </p:nvSpPr>
        <p:spPr>
          <a:xfrm>
            <a:off x="1554480" y="1828800"/>
            <a:ext cx="10058400" cy="4572000"/>
          </a:xfrm>
          <a:prstGeom prst="rect">
            <a:avLst/>
          </a:prstGeom>
          <a:noFill/>
        </p:spPr>
        <p:txBody>
          <a:bodyPr wrap="square">
            <a:spAutoFit/>
          </a:bodyPr>
          <a:lstStyle/>
          <a:p>
            <a:pPr>
              <a:lnSpc>
                <a:spcPct val="135000"/>
              </a:lnSpc>
            </a:pPr>
            <a:r>
              <a:rPr sz="1400">
                <a:solidFill>
                  <a:srgbClr val="333333"/>
                </a:solidFill>
                <a:latin typeface="Calibri"/>
              </a:rPr>
              <a:t>•  Artificial Intelligence — driving unprecedented demand for compute capacity</a:t>
            </a:r>
          </a:p>
          <a:p>
            <a:pPr>
              <a:lnSpc>
                <a:spcPct val="135000"/>
              </a:lnSpc>
            </a:pPr>
            <a:r>
              <a:rPr sz="1400">
                <a:solidFill>
                  <a:srgbClr val="333333"/>
                </a:solidFill>
                <a:latin typeface="Calibri"/>
              </a:rPr>
              <a:t>•  Sustainability — operators are racing to reduce their carbon footprint</a:t>
            </a:r>
          </a:p>
          <a:p>
            <a:pPr>
              <a:lnSpc>
                <a:spcPct val="135000"/>
              </a:lnSpc>
            </a:pPr>
            <a:r>
              <a:rPr sz="1400">
                <a:solidFill>
                  <a:srgbClr val="333333"/>
                </a:solidFill>
                <a:latin typeface="Calibri"/>
              </a:rPr>
              <a:t>•  Edge Computing — pushing data centers closer to end users</a:t>
            </a:r>
          </a:p>
          <a:p>
            <a:pPr>
              <a:lnSpc>
                <a:spcPct val="135000"/>
              </a:lnSpc>
            </a:pPr>
            <a:r>
              <a:rPr sz="1400">
                <a:solidFill>
                  <a:srgbClr val="333333"/>
                </a:solidFill>
                <a:latin typeface="Calibri"/>
              </a:rPr>
              <a:t>•  Liquid Cooling — becoming the new standard for high-density racks</a:t>
            </a:r>
          </a:p>
          <a:p>
            <a:pPr>
              <a:lnSpc>
                <a:spcPct val="135000"/>
              </a:lnSpc>
            </a:pPr>
            <a:r>
              <a:rPr sz="1400">
                <a:solidFill>
                  <a:srgbClr val="333333"/>
                </a:solidFill>
                <a:latin typeface="Calibri"/>
              </a:rPr>
              <a:t>•  Geographic Diversification — new regions emerging beyond traditional hubs</a:t>
            </a:r>
          </a:p>
          <a:p>
            <a:pPr>
              <a:lnSpc>
                <a:spcPct val="135000"/>
              </a:lnSpc>
            </a:pPr>
            <a:r>
              <a:rPr sz="1400">
                <a:solidFill>
                  <a:srgbClr val="333333"/>
                </a:solidFill>
                <a:latin typeface="Calibri"/>
              </a:rPr>
              <a:t>•  Custom Silicon — hyperscalers building their own AI accelerators</a:t>
            </a:r>
          </a:p>
          <a:p>
            <a:pPr>
              <a:lnSpc>
                <a:spcPct val="135000"/>
              </a:lnSpc>
            </a:pPr>
            <a:r>
              <a:rPr sz="1400">
                <a:solidFill>
                  <a:srgbClr val="333333"/>
                </a:solidFill>
                <a:latin typeface="Calibri"/>
              </a:rPr>
              <a:t>•  Renewable Power — solar, wind, and increasingly nuclear PPAs are now table stakes</a:t>
            </a:r>
          </a:p>
        </p:txBody>
      </p:sp>
      <p:sp>
        <p:nvSpPr>
          <p:cNvPr id="7" name="TextBox 6"/>
          <p:cNvSpPr txBox="1"/>
          <p:nvPr/>
        </p:nvSpPr>
        <p:spPr>
          <a:xfrm>
            <a:off x="365760" y="6537960"/>
            <a:ext cx="3657600" cy="228600"/>
          </a:xfrm>
          <a:prstGeom prst="rect">
            <a:avLst/>
          </a:prstGeom>
          <a:noFill/>
        </p:spPr>
        <p:txBody>
          <a:bodyPr wrap="square">
            <a:spAutoFit/>
          </a:bodyPr>
          <a:lstStyle/>
          <a:p>
            <a:pPr algn="l"/>
            <a:r>
              <a:rPr sz="900" b="0" i="1">
                <a:solidFill>
                  <a:srgbClr val="999999"/>
                </a:solidFill>
                <a:latin typeface="Calibri"/>
              </a:rPr>
              <a:t>CONFIDENTIAL — Internal Use Only</a:t>
            </a:r>
          </a:p>
        </p:txBody>
      </p:sp>
      <p:sp>
        <p:nvSpPr>
          <p:cNvPr id="8" name="TextBox 7"/>
          <p:cNvSpPr txBox="1"/>
          <p:nvPr/>
        </p:nvSpPr>
        <p:spPr>
          <a:xfrm>
            <a:off x="5029200" y="6537960"/>
            <a:ext cx="1828800" cy="228600"/>
          </a:xfrm>
          <a:prstGeom prst="rect">
            <a:avLst/>
          </a:prstGeom>
          <a:noFill/>
        </p:spPr>
        <p:txBody>
          <a:bodyPr wrap="square">
            <a:spAutoFit/>
          </a:bodyPr>
          <a:lstStyle/>
          <a:p>
            <a:pPr algn="ctr"/>
            <a:r>
              <a:rPr sz="900" b="0" i="0">
                <a:solidFill>
                  <a:srgbClr val="999999"/>
                </a:solidFill>
                <a:latin typeface="Calibri"/>
              </a:rPr>
              <a:t>May 2026</a:t>
            </a:r>
          </a:p>
        </p:txBody>
      </p:sp>
      <p:sp>
        <p:nvSpPr>
          <p:cNvPr id="9" name="TextBox 8"/>
          <p:cNvSpPr txBox="1"/>
          <p:nvPr/>
        </p:nvSpPr>
        <p:spPr>
          <a:xfrm>
            <a:off x="10820095" y="6537960"/>
            <a:ext cx="914400" cy="228600"/>
          </a:xfrm>
          <a:prstGeom prst="rect">
            <a:avLst/>
          </a:prstGeom>
          <a:noFill/>
        </p:spPr>
        <p:txBody>
          <a:bodyPr wrap="square">
            <a:spAutoFit/>
          </a:bodyPr>
          <a:lstStyle/>
          <a:p>
            <a:pPr algn="r"/>
            <a:r>
              <a:rPr sz="900" b="0" i="0">
                <a:solidFill>
                  <a:srgbClr val="999999"/>
                </a:solidFill>
                <a:latin typeface="Calibri"/>
              </a:rPr>
              <a:t>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1460175" cy="548640"/>
          </a:xfrm>
          <a:prstGeom prst="rect">
            <a:avLst/>
          </a:prstGeom>
          <a:noFill/>
        </p:spPr>
        <p:txBody>
          <a:bodyPr wrap="square">
            <a:spAutoFit/>
          </a:bodyPr>
          <a:lstStyle/>
          <a:p>
            <a:pPr algn="l"/>
            <a:r>
              <a:rPr sz="2800" b="1" i="0">
                <a:solidFill>
                  <a:srgbClr val="FFFFFF"/>
                </a:solidFill>
                <a:latin typeface="Calibri"/>
              </a:rPr>
              <a:t>Challenges and Opportunities</a:t>
            </a:r>
          </a:p>
        </p:txBody>
      </p:sp>
      <p:sp>
        <p:nvSpPr>
          <p:cNvPr id="4" name="Oval 3"/>
          <p:cNvSpPr/>
          <p:nvPr/>
        </p:nvSpPr>
        <p:spPr>
          <a:xfrm>
            <a:off x="548640" y="1280160"/>
            <a:ext cx="731520" cy="731520"/>
          </a:xfrm>
          <a:prstGeom prst="ellipse">
            <a:avLst/>
          </a:prstGeom>
          <a:solidFill>
            <a:srgbClr val="17A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a:t>
            </a:r>
          </a:p>
        </p:txBody>
      </p:sp>
      <p:sp>
        <p:nvSpPr>
          <p:cNvPr id="5" name="TextBox 4"/>
          <p:cNvSpPr txBox="1"/>
          <p:nvPr/>
        </p:nvSpPr>
        <p:spPr>
          <a:xfrm>
            <a:off x="1554480" y="1371600"/>
            <a:ext cx="10058400" cy="457200"/>
          </a:xfrm>
          <a:prstGeom prst="rect">
            <a:avLst/>
          </a:prstGeom>
          <a:noFill/>
        </p:spPr>
        <p:txBody>
          <a:bodyPr wrap="square">
            <a:spAutoFit/>
          </a:bodyPr>
          <a:lstStyle/>
          <a:p>
            <a:pPr algn="l"/>
            <a:r>
              <a:rPr sz="1800" b="1" i="0">
                <a:solidFill>
                  <a:srgbClr val="1F77B4"/>
                </a:solidFill>
                <a:latin typeface="Calibri"/>
              </a:rPr>
              <a:t>Key challenges facing the industry</a:t>
            </a:r>
          </a:p>
        </p:txBody>
      </p:sp>
      <p:sp>
        <p:nvSpPr>
          <p:cNvPr id="6" name="TextBox 5"/>
          <p:cNvSpPr txBox="1"/>
          <p:nvPr/>
        </p:nvSpPr>
        <p:spPr>
          <a:xfrm>
            <a:off x="1554480" y="1828800"/>
            <a:ext cx="10058400" cy="4572000"/>
          </a:xfrm>
          <a:prstGeom prst="rect">
            <a:avLst/>
          </a:prstGeom>
          <a:noFill/>
        </p:spPr>
        <p:txBody>
          <a:bodyPr wrap="square">
            <a:spAutoFit/>
          </a:bodyPr>
          <a:lstStyle/>
          <a:p>
            <a:pPr>
              <a:lnSpc>
                <a:spcPct val="140000"/>
              </a:lnSpc>
            </a:pPr>
            <a:r>
              <a:rPr sz="1400">
                <a:solidFill>
                  <a:srgbClr val="333333"/>
                </a:solidFill>
                <a:latin typeface="Calibri"/>
              </a:rPr>
              <a:t>•  Power availability is becoming a major constraint, especially in established markets</a:t>
            </a:r>
          </a:p>
          <a:p>
            <a:pPr>
              <a:lnSpc>
                <a:spcPct val="140000"/>
              </a:lnSpc>
            </a:pPr>
            <a:r>
              <a:rPr sz="1400">
                <a:solidFill>
                  <a:srgbClr val="333333"/>
                </a:solidFill>
                <a:latin typeface="Calibri"/>
              </a:rPr>
              <a:t>•  Cooling at high densities is technically demanding and capital intensive</a:t>
            </a:r>
          </a:p>
          <a:p>
            <a:pPr>
              <a:lnSpc>
                <a:spcPct val="140000"/>
              </a:lnSpc>
            </a:pPr>
            <a:r>
              <a:rPr sz="1400">
                <a:solidFill>
                  <a:srgbClr val="333333"/>
                </a:solidFill>
                <a:latin typeface="Calibri"/>
              </a:rPr>
              <a:t>•  Talent shortages in critical infrastructure roles</a:t>
            </a:r>
          </a:p>
          <a:p>
            <a:pPr>
              <a:lnSpc>
                <a:spcPct val="140000"/>
              </a:lnSpc>
            </a:pPr>
            <a:r>
              <a:rPr sz="1400">
                <a:solidFill>
                  <a:srgbClr val="333333"/>
                </a:solidFill>
                <a:latin typeface="Calibri"/>
              </a:rPr>
              <a:t>•  Supply chain delays for transformers, switchgear, and other long-lead equipment</a:t>
            </a:r>
          </a:p>
          <a:p>
            <a:pPr>
              <a:lnSpc>
                <a:spcPct val="140000"/>
              </a:lnSpc>
            </a:pPr>
            <a:r>
              <a:rPr sz="1400">
                <a:solidFill>
                  <a:srgbClr val="333333"/>
                </a:solidFill>
                <a:latin typeface="Calibri"/>
              </a:rPr>
              <a:t>•  Permitting and community opposition slowing some projects</a:t>
            </a:r>
          </a:p>
          <a:p>
            <a:pPr>
              <a:lnSpc>
                <a:spcPct val="140000"/>
              </a:lnSpc>
            </a:pPr>
            <a:r>
              <a:rPr sz="1400">
                <a:solidFill>
                  <a:srgbClr val="333333"/>
                </a:solidFill>
                <a:latin typeface="Calibri"/>
              </a:rPr>
              <a:t>•  Rapidly changing AI workload profiles make long-term planning difficult</a:t>
            </a:r>
          </a:p>
        </p:txBody>
      </p:sp>
      <p:sp>
        <p:nvSpPr>
          <p:cNvPr id="7" name="TextBox 6"/>
          <p:cNvSpPr txBox="1"/>
          <p:nvPr/>
        </p:nvSpPr>
        <p:spPr>
          <a:xfrm>
            <a:off x="365760" y="6537960"/>
            <a:ext cx="3657600" cy="228600"/>
          </a:xfrm>
          <a:prstGeom prst="rect">
            <a:avLst/>
          </a:prstGeom>
          <a:noFill/>
        </p:spPr>
        <p:txBody>
          <a:bodyPr wrap="square">
            <a:spAutoFit/>
          </a:bodyPr>
          <a:lstStyle/>
          <a:p>
            <a:pPr algn="l"/>
            <a:r>
              <a:rPr sz="900" b="0" i="1">
                <a:solidFill>
                  <a:srgbClr val="999999"/>
                </a:solidFill>
                <a:latin typeface="Calibri"/>
              </a:rPr>
              <a:t>CONFIDENTIAL — Internal Use Only</a:t>
            </a:r>
          </a:p>
        </p:txBody>
      </p:sp>
      <p:sp>
        <p:nvSpPr>
          <p:cNvPr id="8" name="TextBox 7"/>
          <p:cNvSpPr txBox="1"/>
          <p:nvPr/>
        </p:nvSpPr>
        <p:spPr>
          <a:xfrm>
            <a:off x="5029200" y="6537960"/>
            <a:ext cx="1828800" cy="228600"/>
          </a:xfrm>
          <a:prstGeom prst="rect">
            <a:avLst/>
          </a:prstGeom>
          <a:noFill/>
        </p:spPr>
        <p:txBody>
          <a:bodyPr wrap="square">
            <a:spAutoFit/>
          </a:bodyPr>
          <a:lstStyle/>
          <a:p>
            <a:pPr algn="ctr"/>
            <a:r>
              <a:rPr sz="900" b="0" i="0">
                <a:solidFill>
                  <a:srgbClr val="999999"/>
                </a:solidFill>
                <a:latin typeface="Calibri"/>
              </a:rPr>
              <a:t>May 2026</a:t>
            </a:r>
          </a:p>
        </p:txBody>
      </p:sp>
      <p:sp>
        <p:nvSpPr>
          <p:cNvPr id="9" name="TextBox 8"/>
          <p:cNvSpPr txBox="1"/>
          <p:nvPr/>
        </p:nvSpPr>
        <p:spPr>
          <a:xfrm>
            <a:off x="10820095" y="6537960"/>
            <a:ext cx="914400" cy="228600"/>
          </a:xfrm>
          <a:prstGeom prst="rect">
            <a:avLst/>
          </a:prstGeom>
          <a:noFill/>
        </p:spPr>
        <p:txBody>
          <a:bodyPr wrap="square">
            <a:spAutoFit/>
          </a:bodyPr>
          <a:lstStyle/>
          <a:p>
            <a:pPr algn="r"/>
            <a:r>
              <a:rPr sz="900" b="0" i="0">
                <a:solidFill>
                  <a:srgbClr val="999999"/>
                </a:solidFill>
                <a:latin typeface="Calibri"/>
              </a:rPr>
              <a:t>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1460175" cy="548640"/>
          </a:xfrm>
          <a:prstGeom prst="rect">
            <a:avLst/>
          </a:prstGeom>
          <a:noFill/>
        </p:spPr>
        <p:txBody>
          <a:bodyPr wrap="square">
            <a:spAutoFit/>
          </a:bodyPr>
          <a:lstStyle/>
          <a:p>
            <a:pPr algn="l"/>
            <a:r>
              <a:rPr sz="2800" b="1" i="0">
                <a:solidFill>
                  <a:srgbClr val="FFFFFF"/>
                </a:solidFill>
                <a:latin typeface="Calibri"/>
              </a:rPr>
              <a:t>Future Outlook</a:t>
            </a:r>
          </a:p>
        </p:txBody>
      </p:sp>
      <p:sp>
        <p:nvSpPr>
          <p:cNvPr id="4" name="Oval 3"/>
          <p:cNvSpPr/>
          <p:nvPr/>
        </p:nvSpPr>
        <p:spPr>
          <a:xfrm>
            <a:off x="548640" y="1280160"/>
            <a:ext cx="731520" cy="731520"/>
          </a:xfrm>
          <a:prstGeom prst="ellipse">
            <a:avLst/>
          </a:prstGeom>
          <a:solidFill>
            <a:srgbClr val="FF7F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b="1">
                <a:solidFill>
                  <a:srgbClr val="FFFFFF"/>
                </a:solidFill>
                <a:latin typeface="Calibri"/>
              </a:rPr>
              <a:t>★</a:t>
            </a:r>
          </a:p>
        </p:txBody>
      </p:sp>
      <p:sp>
        <p:nvSpPr>
          <p:cNvPr id="5" name="TextBox 4"/>
          <p:cNvSpPr txBox="1"/>
          <p:nvPr/>
        </p:nvSpPr>
        <p:spPr>
          <a:xfrm>
            <a:off x="1554480" y="1371600"/>
            <a:ext cx="10058400" cy="457200"/>
          </a:xfrm>
          <a:prstGeom prst="rect">
            <a:avLst/>
          </a:prstGeom>
          <a:noFill/>
        </p:spPr>
        <p:txBody>
          <a:bodyPr wrap="square">
            <a:spAutoFit/>
          </a:bodyPr>
          <a:lstStyle/>
          <a:p>
            <a:pPr algn="l"/>
            <a:r>
              <a:rPr sz="1800" b="1" i="0">
                <a:solidFill>
                  <a:srgbClr val="1F77B4"/>
                </a:solidFill>
                <a:latin typeface="Calibri"/>
              </a:rPr>
              <a:t>What to expect in the coming years</a:t>
            </a:r>
          </a:p>
        </p:txBody>
      </p:sp>
      <p:sp>
        <p:nvSpPr>
          <p:cNvPr id="6" name="TextBox 5"/>
          <p:cNvSpPr txBox="1"/>
          <p:nvPr/>
        </p:nvSpPr>
        <p:spPr>
          <a:xfrm>
            <a:off x="1554480" y="1828800"/>
            <a:ext cx="10058400" cy="4572000"/>
          </a:xfrm>
          <a:prstGeom prst="rect">
            <a:avLst/>
          </a:prstGeom>
          <a:noFill/>
        </p:spPr>
        <p:txBody>
          <a:bodyPr wrap="square">
            <a:spAutoFit/>
          </a:bodyPr>
          <a:lstStyle/>
          <a:p>
            <a:pPr>
              <a:lnSpc>
                <a:spcPct val="140000"/>
              </a:lnSpc>
            </a:pPr>
            <a:r>
              <a:rPr sz="1400">
                <a:solidFill>
                  <a:srgbClr val="333333"/>
                </a:solidFill>
                <a:latin typeface="Calibri"/>
              </a:rPr>
              <a:t>•  Strong growth is expected to continue</a:t>
            </a:r>
          </a:p>
          <a:p>
            <a:pPr>
              <a:lnSpc>
                <a:spcPct val="140000"/>
              </a:lnSpc>
            </a:pPr>
            <a:r>
              <a:rPr sz="1400">
                <a:solidFill>
                  <a:srgbClr val="333333"/>
                </a:solidFill>
                <a:latin typeface="Calibri"/>
              </a:rPr>
              <a:t>•  AI will remain the primary demand driver</a:t>
            </a:r>
          </a:p>
          <a:p>
            <a:pPr>
              <a:lnSpc>
                <a:spcPct val="140000"/>
              </a:lnSpc>
            </a:pPr>
            <a:r>
              <a:rPr sz="1400">
                <a:solidFill>
                  <a:srgbClr val="333333"/>
                </a:solidFill>
                <a:latin typeface="Calibri"/>
              </a:rPr>
              <a:t>•  Power innovation will accelerate, including SMRs and behind-the-meter generation</a:t>
            </a:r>
          </a:p>
          <a:p>
            <a:pPr>
              <a:lnSpc>
                <a:spcPct val="140000"/>
              </a:lnSpc>
            </a:pPr>
            <a:r>
              <a:rPr sz="1400">
                <a:solidFill>
                  <a:srgbClr val="333333"/>
                </a:solidFill>
                <a:latin typeface="Calibri"/>
              </a:rPr>
              <a:t>•  Geographic diversification will continue as legacy hubs hit constraints</a:t>
            </a:r>
          </a:p>
          <a:p>
            <a:pPr>
              <a:lnSpc>
                <a:spcPct val="140000"/>
              </a:lnSpc>
            </a:pPr>
            <a:r>
              <a:rPr sz="1400">
                <a:solidFill>
                  <a:srgbClr val="333333"/>
                </a:solidFill>
                <a:latin typeface="Calibri"/>
              </a:rPr>
              <a:t>•  M&amp;A activity is likely to increase as smaller operators consolidate</a:t>
            </a:r>
          </a:p>
          <a:p>
            <a:pPr>
              <a:lnSpc>
                <a:spcPct val="140000"/>
              </a:lnSpc>
            </a:pPr>
            <a:r>
              <a:rPr sz="1400">
                <a:solidFill>
                  <a:srgbClr val="333333"/>
                </a:solidFill>
                <a:latin typeface="Calibri"/>
              </a:rPr>
              <a:t>•  Technology innovation will continue at a rapid pace</a:t>
            </a:r>
          </a:p>
        </p:txBody>
      </p:sp>
      <p:sp>
        <p:nvSpPr>
          <p:cNvPr id="7" name="TextBox 6"/>
          <p:cNvSpPr txBox="1"/>
          <p:nvPr/>
        </p:nvSpPr>
        <p:spPr>
          <a:xfrm>
            <a:off x="365760" y="6537960"/>
            <a:ext cx="3657600" cy="228600"/>
          </a:xfrm>
          <a:prstGeom prst="rect">
            <a:avLst/>
          </a:prstGeom>
          <a:noFill/>
        </p:spPr>
        <p:txBody>
          <a:bodyPr wrap="square">
            <a:spAutoFit/>
          </a:bodyPr>
          <a:lstStyle/>
          <a:p>
            <a:pPr algn="l"/>
            <a:r>
              <a:rPr sz="900" b="0" i="1">
                <a:solidFill>
                  <a:srgbClr val="999999"/>
                </a:solidFill>
                <a:latin typeface="Calibri"/>
              </a:rPr>
              <a:t>CONFIDENTIAL — Internal Use Only</a:t>
            </a:r>
          </a:p>
        </p:txBody>
      </p:sp>
      <p:sp>
        <p:nvSpPr>
          <p:cNvPr id="8" name="TextBox 7"/>
          <p:cNvSpPr txBox="1"/>
          <p:nvPr/>
        </p:nvSpPr>
        <p:spPr>
          <a:xfrm>
            <a:off x="5029200" y="6537960"/>
            <a:ext cx="1828800" cy="228600"/>
          </a:xfrm>
          <a:prstGeom prst="rect">
            <a:avLst/>
          </a:prstGeom>
          <a:noFill/>
        </p:spPr>
        <p:txBody>
          <a:bodyPr wrap="square">
            <a:spAutoFit/>
          </a:bodyPr>
          <a:lstStyle/>
          <a:p>
            <a:pPr algn="ctr"/>
            <a:r>
              <a:rPr sz="900" b="0" i="0">
                <a:solidFill>
                  <a:srgbClr val="999999"/>
                </a:solidFill>
                <a:latin typeface="Calibri"/>
              </a:rPr>
              <a:t>May 2026</a:t>
            </a:r>
          </a:p>
        </p:txBody>
      </p:sp>
      <p:sp>
        <p:nvSpPr>
          <p:cNvPr id="9" name="TextBox 8"/>
          <p:cNvSpPr txBox="1"/>
          <p:nvPr/>
        </p:nvSpPr>
        <p:spPr>
          <a:xfrm>
            <a:off x="10820095" y="6537960"/>
            <a:ext cx="914400" cy="228600"/>
          </a:xfrm>
          <a:prstGeom prst="rect">
            <a:avLst/>
          </a:prstGeom>
          <a:noFill/>
        </p:spPr>
        <p:txBody>
          <a:bodyPr wrap="square">
            <a:spAutoFit/>
          </a:bodyPr>
          <a:lstStyle/>
          <a:p>
            <a:pPr algn="r"/>
            <a:r>
              <a:rPr sz="900" b="0" i="0">
                <a:solidFill>
                  <a:srgbClr val="999999"/>
                </a:solidFill>
                <a:latin typeface="Calibri"/>
              </a:rPr>
              <a:t>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1460175" cy="548640"/>
          </a:xfrm>
          <a:prstGeom prst="rect">
            <a:avLst/>
          </a:prstGeom>
          <a:noFill/>
        </p:spPr>
        <p:txBody>
          <a:bodyPr wrap="square">
            <a:spAutoFit/>
          </a:bodyPr>
          <a:lstStyle/>
          <a:p>
            <a:pPr algn="l"/>
            <a:r>
              <a:rPr sz="2800" b="1" i="0">
                <a:solidFill>
                  <a:srgbClr val="FFFFFF"/>
                </a:solidFill>
                <a:latin typeface="Calibri"/>
              </a:rPr>
              <a:t>Conclusion</a:t>
            </a:r>
          </a:p>
        </p:txBody>
      </p:sp>
      <p:sp>
        <p:nvSpPr>
          <p:cNvPr id="4" name="TextBox 3"/>
          <p:cNvSpPr txBox="1"/>
          <p:nvPr/>
        </p:nvSpPr>
        <p:spPr>
          <a:xfrm>
            <a:off x="914400" y="1828800"/>
            <a:ext cx="10058400" cy="3657600"/>
          </a:xfrm>
          <a:prstGeom prst="rect">
            <a:avLst/>
          </a:prstGeom>
          <a:noFill/>
        </p:spPr>
        <p:txBody>
          <a:bodyPr wrap="square">
            <a:spAutoFit/>
          </a:bodyPr>
          <a:lstStyle/>
          <a:p>
            <a:pPr algn="l"/>
            <a:r>
              <a:rPr sz="1800" b="0" i="1">
                <a:solidFill>
                  <a:srgbClr val="333333"/>
                </a:solidFill>
                <a:latin typeface="Calibri"/>
              </a:rPr>
              <a:t>The data center industry is at an inflection point. Driven by AI, sustainability requirements, and changing customer expectations, the next several years will bring significant change. Operators that can secure power, build at scale, and serve AI workloads will be best positioned for success. Thank you for your attention.</a:t>
            </a:r>
          </a:p>
        </p:txBody>
      </p:sp>
      <p:sp>
        <p:nvSpPr>
          <p:cNvPr id="5" name="TextBox 4"/>
          <p:cNvSpPr txBox="1"/>
          <p:nvPr/>
        </p:nvSpPr>
        <p:spPr>
          <a:xfrm>
            <a:off x="365760" y="6537960"/>
            <a:ext cx="3657600" cy="228600"/>
          </a:xfrm>
          <a:prstGeom prst="rect">
            <a:avLst/>
          </a:prstGeom>
          <a:noFill/>
        </p:spPr>
        <p:txBody>
          <a:bodyPr wrap="square">
            <a:spAutoFit/>
          </a:bodyPr>
          <a:lstStyle/>
          <a:p>
            <a:pPr algn="l"/>
            <a:r>
              <a:rPr sz="900" b="0" i="1">
                <a:solidFill>
                  <a:srgbClr val="999999"/>
                </a:solidFill>
                <a:latin typeface="Calibri"/>
              </a:rPr>
              <a:t>CONFIDENTIAL — Internal Use Only</a:t>
            </a:r>
          </a:p>
        </p:txBody>
      </p:sp>
      <p:sp>
        <p:nvSpPr>
          <p:cNvPr id="6" name="TextBox 5"/>
          <p:cNvSpPr txBox="1"/>
          <p:nvPr/>
        </p:nvSpPr>
        <p:spPr>
          <a:xfrm>
            <a:off x="5029200" y="6537960"/>
            <a:ext cx="1828800" cy="228600"/>
          </a:xfrm>
          <a:prstGeom prst="rect">
            <a:avLst/>
          </a:prstGeom>
          <a:noFill/>
        </p:spPr>
        <p:txBody>
          <a:bodyPr wrap="square">
            <a:spAutoFit/>
          </a:bodyPr>
          <a:lstStyle/>
          <a:p>
            <a:pPr algn="ctr"/>
            <a:r>
              <a:rPr sz="900" b="0" i="0">
                <a:solidFill>
                  <a:srgbClr val="999999"/>
                </a:solidFill>
                <a:latin typeface="Calibri"/>
              </a:rPr>
              <a:t>May 2026</a:t>
            </a:r>
          </a:p>
        </p:txBody>
      </p:sp>
      <p:sp>
        <p:nvSpPr>
          <p:cNvPr id="7" name="TextBox 6"/>
          <p:cNvSpPr txBox="1"/>
          <p:nvPr/>
        </p:nvSpPr>
        <p:spPr>
          <a:xfrm>
            <a:off x="10820095" y="6537960"/>
            <a:ext cx="914400" cy="228600"/>
          </a:xfrm>
          <a:prstGeom prst="rect">
            <a:avLst/>
          </a:prstGeom>
          <a:noFill/>
        </p:spPr>
        <p:txBody>
          <a:bodyPr wrap="square">
            <a:spAutoFit/>
          </a:bodyPr>
          <a:lstStyle/>
          <a:p>
            <a:pPr algn="r"/>
            <a:r>
              <a:rPr sz="900" b="0" i="0">
                <a:solidFill>
                  <a:srgbClr val="999999"/>
                </a:solidFill>
                <a:latin typeface="Calibri"/>
              </a:rPr>
              <a:t>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0"/>
            <a:ext cx="11277295" cy="1371600"/>
          </a:xfrm>
          <a:prstGeom prst="rect">
            <a:avLst/>
          </a:prstGeom>
          <a:noFill/>
        </p:spPr>
        <p:txBody>
          <a:bodyPr wrap="square">
            <a:spAutoFit/>
          </a:bodyPr>
          <a:lstStyle/>
          <a:p>
            <a:pPr algn="ctr"/>
            <a:r>
              <a:rPr sz="7200" b="1" i="0">
                <a:solidFill>
                  <a:srgbClr val="FFFFFF"/>
                </a:solidFill>
                <a:latin typeface="Calibri"/>
              </a:rPr>
              <a:t>Thank You!</a:t>
            </a:r>
          </a:p>
        </p:txBody>
      </p:sp>
      <p:sp>
        <p:nvSpPr>
          <p:cNvPr id="4" name="TextBox 3"/>
          <p:cNvSpPr txBox="1"/>
          <p:nvPr/>
        </p:nvSpPr>
        <p:spPr>
          <a:xfrm>
            <a:off x="457200" y="4114800"/>
            <a:ext cx="11277295" cy="548640"/>
          </a:xfrm>
          <a:prstGeom prst="rect">
            <a:avLst/>
          </a:prstGeom>
          <a:noFill/>
        </p:spPr>
        <p:txBody>
          <a:bodyPr wrap="square">
            <a:spAutoFit/>
          </a:bodyPr>
          <a:lstStyle/>
          <a:p>
            <a:pPr algn="ctr"/>
            <a:r>
              <a:rPr sz="2800" b="0" i="1">
                <a:solidFill>
                  <a:srgbClr val="FFFFFF"/>
                </a:solidFill>
                <a:latin typeface="Calibri"/>
              </a:rP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