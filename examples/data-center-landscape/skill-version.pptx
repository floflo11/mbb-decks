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Hyperscale capex</c:v>
                </c:pt>
              </c:strCache>
            </c:strRef>
          </c:tx>
          <c:spPr>
            <a:solidFill>
              <a:srgbClr val="051C2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175</c:v>
                </c:pt>
                <c:pt idx="2">
                  <c:v>240</c:v>
                </c:pt>
                <c:pt idx="3">
                  <c:v>380</c:v>
                </c:pt>
                <c:pt idx="4">
                  <c:v>460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Colocation capex</c:v>
                </c:pt>
              </c:strCache>
            </c:strRef>
          </c:tx>
          <c:spPr>
            <a:solidFill>
              <a:srgbClr val="2251F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45</c:v>
                </c:pt>
                <c:pt idx="2">
                  <c:v>55</c:v>
                </c:pt>
                <c:pt idx="3">
                  <c:v>70</c:v>
                </c:pt>
                <c:pt idx="4">
                  <c:v>80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A1A1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9.0"/>
        </c:scaling>
        <c:delete val="0"/>
        <c:axPos val="l"/>
        <c:numFmt formatCode=";;;" sourceLinked="0"/>
        <c:majorTickMark val="none"/>
        <c:minorTickMark val="none"/>
        <c:tickLblPos val="nextTo"/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2022 share</c:v>
                </c:pt>
              </c:strCache>
            </c:strRef>
          </c:tx>
          <c:spPr>
            <a:solidFill>
              <a:srgbClr val="051C2C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AWS</c:v>
                </c:pt>
                <c:pt idx="1">
                  <c:v>Azure</c:v>
                </c:pt>
                <c:pt idx="2">
                  <c:v>Google Cloud</c:v>
                </c:pt>
                <c:pt idx="3">
                  <c:v>Alibaba</c:v>
                </c:pt>
                <c:pt idx="4">
                  <c:v>Oracle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33.0</c:v>
                </c:pt>
                <c:pt idx="1">
                  <c:v>22.0</c:v>
                </c:pt>
                <c:pt idx="2">
                  <c:v>10.0</c:v>
                </c:pt>
                <c:pt idx="3">
                  <c:v>5.0</c:v>
                </c:pt>
                <c:pt idx="4">
                  <c:v>2.0</c:v>
                </c:pt>
                <c:pt idx="5">
                  <c:v>28.0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share</c:v>
                </c:pt>
              </c:strCache>
            </c:strRef>
          </c:tx>
          <c:spPr>
            <a:solidFill>
              <a:srgbClr val="2251FF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AWS</c:v>
                </c:pt>
                <c:pt idx="1">
                  <c:v>Azure</c:v>
                </c:pt>
                <c:pt idx="2">
                  <c:v>Google Cloud</c:v>
                </c:pt>
                <c:pt idx="3">
                  <c:v>Alibaba</c:v>
                </c:pt>
                <c:pt idx="4">
                  <c:v>Oracle</c:v>
                </c:pt>
                <c:pt idx="5">
                  <c:v>Other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32.0</c:v>
                </c:pt>
                <c:pt idx="1">
                  <c:v>23.0</c:v>
                </c:pt>
                <c:pt idx="2">
                  <c:v>11.0</c:v>
                </c:pt>
                <c:pt idx="3">
                  <c:v>4.0</c:v>
                </c:pt>
                <c:pt idx="4">
                  <c:v>3.0</c:v>
                </c:pt>
                <c:pt idx="5">
                  <c:v>27.0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A1A1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7.949999999999996"/>
        </c:scaling>
        <c:delete val="0"/>
        <c:axPos val="l"/>
        <c:numFmt formatCode=";;;" sourceLinked="0"/>
        <c:majorTickMark val="none"/>
        <c:minorTickMark val="none"/>
        <c:tickLblPos val="nextTo"/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share</c:v>
                </c:pt>
              </c:strCache>
            </c:strRef>
          </c:tx>
          <c:spPr>
            <a:solidFill>
              <a:srgbClr val="051C2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Equinix</c:v>
                </c:pt>
                <c:pt idx="1">
                  <c:v>Digital Realty</c:v>
                </c:pt>
                <c:pt idx="2">
                  <c:v>NTT</c:v>
                </c:pt>
                <c:pt idx="3">
                  <c:v>CyrusOne</c:v>
                </c:pt>
                <c:pt idx="4">
                  <c:v>QTS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10.5</c:v>
                </c:pt>
                <c:pt idx="1">
                  <c:v>7.2</c:v>
                </c:pt>
                <c:pt idx="2">
                  <c:v>5.1</c:v>
                </c:pt>
                <c:pt idx="3">
                  <c:v>4.0</c:v>
                </c:pt>
                <c:pt idx="4">
                  <c:v>3.8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A1A1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75"/>
        </c:scaling>
        <c:delete val="0"/>
        <c:axPos val="l"/>
        <c:numFmt formatCode=";;;" sourceLinked="0"/>
        <c:majorTickMark val="none"/>
        <c:minorTickMark val="none"/>
        <c:tickLblPos val="nextTo"/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 capacity</c:v>
                </c:pt>
              </c:strCache>
            </c:strRef>
          </c:tx>
          <c:spPr>
            <a:solidFill>
              <a:srgbClr val="051C2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North VA</c:v>
                </c:pt>
                <c:pt idx="1">
                  <c:v>Texas</c:v>
                </c:pt>
                <c:pt idx="2">
                  <c:v>Iowa/ND</c:v>
                </c:pt>
                <c:pt idx="3">
                  <c:v>Quebec</c:v>
                </c:pt>
                <c:pt idx="4">
                  <c:v>Riyadh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3.2</c:v>
                </c:pt>
                <c:pt idx="1">
                  <c:v>1.4</c:v>
                </c:pt>
                <c:pt idx="2">
                  <c:v>0.8</c:v>
                </c:pt>
                <c:pt idx="3">
                  <c:v>0.5</c:v>
                </c:pt>
                <c:pt idx="4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2027E capacity</c:v>
                </c:pt>
              </c:strCache>
            </c:strRef>
          </c:tx>
          <c:spPr>
            <a:solidFill>
              <a:srgbClr val="2251F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North VA</c:v>
                </c:pt>
                <c:pt idx="1">
                  <c:v>Texas</c:v>
                </c:pt>
                <c:pt idx="2">
                  <c:v>Iowa/ND</c:v>
                </c:pt>
                <c:pt idx="3">
                  <c:v>Quebec</c:v>
                </c:pt>
                <c:pt idx="4">
                  <c:v>Riyadh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5.8</c:v>
                </c:pt>
                <c:pt idx="1">
                  <c:v>4.1</c:v>
                </c:pt>
                <c:pt idx="2">
                  <c:v>3.2</c:v>
                </c:pt>
                <c:pt idx="3">
                  <c:v>2.4</c:v>
                </c:pt>
                <c:pt idx="4">
                  <c:v>2.0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A1A1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669999999999999"/>
        </c:scaling>
        <c:delete val="0"/>
        <c:axPos val="l"/>
        <c:numFmt formatCode=";;;" sourceLinked="0"/>
        <c:majorTickMark val="none"/>
        <c:minorTickMark val="none"/>
        <c:tickLblPos val="nextTo"/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AWS</c:v>
                </c:pt>
              </c:strCache>
            </c:strRef>
          </c:tx>
          <c:spPr>
            <a:solidFill>
              <a:srgbClr val="051C2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50.0</c:v>
                </c:pt>
                <c:pt idx="1">
                  <c:v>64.0</c:v>
                </c:pt>
                <c:pt idx="2">
                  <c:v>88.0</c:v>
                </c:pt>
                <c:pt idx="3">
                  <c:v>105.0</c:v>
                </c:pt>
                <c:pt idx="4">
                  <c:v>120.0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Microsoft</c:v>
                </c:pt>
              </c:strCache>
            </c:strRef>
          </c:tx>
          <c:spPr>
            <a:solidFill>
              <a:srgbClr val="2251FF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44.0</c:v>
                </c:pt>
                <c:pt idx="1">
                  <c:v>58.0</c:v>
                </c:pt>
                <c:pt idx="2">
                  <c:v>92.0</c:v>
                </c:pt>
                <c:pt idx="3">
                  <c:v>115.0</c:v>
                </c:pt>
                <c:pt idx="4">
                  <c:v>130.0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Google</c:v>
                </c:pt>
              </c:strCache>
            </c:strRef>
          </c:tx>
          <c:spPr>
            <a:solidFill>
              <a:srgbClr val="949BA8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32.0</c:v>
                </c:pt>
                <c:pt idx="1">
                  <c:v>42.0</c:v>
                </c:pt>
                <c:pt idx="2">
                  <c:v>60.0</c:v>
                </c:pt>
                <c:pt idx="3">
                  <c:v>72.0</c:v>
                </c:pt>
                <c:pt idx="4">
                  <c:v>82.0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E5E7E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2025E</c:v>
                </c:pt>
                <c:pt idx="3">
                  <c:v>2026E</c:v>
                </c:pt>
                <c:pt idx="4">
                  <c:v>2027E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28.0</c:v>
                </c:pt>
                <c:pt idx="1">
                  <c:v>38.0</c:v>
                </c:pt>
                <c:pt idx="2">
                  <c:v>58.0</c:v>
                </c:pt>
                <c:pt idx="3">
                  <c:v>68.0</c:v>
                </c:pt>
                <c:pt idx="4">
                  <c:v>76.0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900">
                  <a:solidFill>
                    <a:srgbClr val="1A1A1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1A1A1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9.5"/>
        </c:scaling>
        <c:delete val="0"/>
        <c:axPos val="l"/>
        <c:numFmt formatCode=";;;" sourceLinked="0"/>
        <c:majorTickMark val="none"/>
        <c:minorTickMark val="none"/>
        <c:tickLblPos val="nextTo"/>
        <c:txPr>
          <a:bodyPr/>
          <a:lstStyle/>
          <a:p>
            <a:pPr>
              <a:defRPr sz="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2103120"/>
            <a:ext cx="731520" cy="0"/>
          </a:xfrm>
          <a:prstGeom prst="line">
            <a:avLst/>
          </a:prstGeom>
          <a:ln w="31750">
            <a:solidFill>
              <a:srgbClr val="225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2377440"/>
            <a:ext cx="1127729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 i="0">
                <a:solidFill>
                  <a:srgbClr val="051C2C"/>
                </a:solidFill>
                <a:latin typeface="Georgia"/>
              </a:rPr>
              <a:t>Data Center Landscape 2026: Where the Next $500B in Capex Lands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A1A1A"/>
                </a:solidFill>
                <a:latin typeface="Georgia"/>
              </a:rPr>
              <a:t>Industry report for the Q2 2026 strategy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9BA8"/>
                </a:solidFill>
                <a:latin typeface="Calibri"/>
              </a:rPr>
              <a:t>Iris Meng | New York AI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Hyperscalers will spend $500B+ through 2027, concentrating capacity in five power-rich regions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34440"/>
            <a:ext cx="11277295" cy="4800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AI training drives ~60% of incremental capex; inference workloads scale 4x by 2027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Power capacity is the binding constraint; new builds shift to TX, IA, ND, Quebec, and Riyadh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Top 4 hyperscalers control 78% of cloud spend; colocation share drops below 25% by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34440"/>
            <a:ext cx="11277295" cy="4800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2800">
                <a:solidFill>
                  <a:srgbClr val="2251FF"/>
                </a:solidFill>
                <a:latin typeface="Georgia"/>
              </a:rPr>
              <a:t>01    </a:t>
            </a:r>
            <a:r>
              <a:rPr sz="2200">
                <a:solidFill>
                  <a:srgbClr val="051C2C"/>
                </a:solidFill>
                <a:latin typeface="Georgia"/>
              </a:rPr>
              <a:t>Market sizing and growth</a:t>
            </a: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sz="1200" i="1">
                <a:solidFill>
                  <a:srgbClr val="949BA8"/>
                </a:solidFill>
                <a:latin typeface="Calibri"/>
              </a:rPr>
              <a:t>         How big, growing how fast, driven by what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2800">
                <a:solidFill>
                  <a:srgbClr val="2251FF"/>
                </a:solidFill>
                <a:latin typeface="Georgia"/>
              </a:rPr>
              <a:t>02    </a:t>
            </a:r>
            <a:r>
              <a:rPr sz="2200">
                <a:solidFill>
                  <a:srgbClr val="051C2C"/>
                </a:solidFill>
                <a:latin typeface="Georgia"/>
              </a:rPr>
              <a:t>Competitive landscape</a:t>
            </a: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sz="1200" i="1">
                <a:solidFill>
                  <a:srgbClr val="949BA8"/>
                </a:solidFill>
                <a:latin typeface="Calibri"/>
              </a:rPr>
              <a:t>         Hyperscalers, colocation, and the new entrants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2800">
                <a:solidFill>
                  <a:srgbClr val="2251FF"/>
                </a:solidFill>
                <a:latin typeface="Georgia"/>
              </a:rPr>
              <a:t>03    </a:t>
            </a:r>
            <a:r>
              <a:rPr sz="2200">
                <a:solidFill>
                  <a:srgbClr val="051C2C"/>
                </a:solidFill>
                <a:latin typeface="Georgia"/>
              </a:rPr>
              <a:t>Where the capacity is going</a:t>
            </a:r>
          </a:p>
          <a:p>
            <a:pPr>
              <a:lnSpc>
                <a:spcPct val="100000"/>
              </a:lnSpc>
              <a:spcAft>
                <a:spcPts val="1400"/>
              </a:spcAft>
            </a:pPr>
            <a:r>
              <a:rPr sz="1200" i="1">
                <a:solidFill>
                  <a:srgbClr val="949BA8"/>
                </a:solidFill>
                <a:latin typeface="Calibri"/>
              </a:rPr>
              <a:t>         Regional concentration and power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2834640"/>
            <a:ext cx="731520" cy="0"/>
          </a:xfrm>
          <a:prstGeom prst="line">
            <a:avLst/>
          </a:prstGeom>
          <a:ln w="31750">
            <a:solidFill>
              <a:srgbClr val="225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30175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251FF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51C2C"/>
                </a:solidFill>
                <a:latin typeface="Georgia"/>
              </a:rPr>
              <a:t>Market sizing and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Global cloud infrastructure spend grows from $200B to $500B+ through 2027, a 17% CAGR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69919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49BA8"/>
                </a:solidFill>
                <a:latin typeface="Calibri"/>
              </a:rPr>
              <a:t>USD billions, annual capex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17320"/>
          <a:ext cx="6991922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69162" y="1234440"/>
            <a:ext cx="39653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49BA8"/>
                </a:solidFill>
                <a:latin typeface="Calibri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9162" y="1554480"/>
            <a:ext cx="3965333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>
                <a:solidFill>
                  <a:srgbClr val="051C2C"/>
                </a:solidFill>
                <a:latin typeface="Calibri"/>
              </a:rPr>
              <a:t>•   </a:t>
            </a:r>
            <a:r>
              <a:rPr sz="1200">
                <a:solidFill>
                  <a:srgbClr val="1A1A1A"/>
                </a:solidFill>
                <a:latin typeface="Calibri"/>
              </a:rPr>
              <a:t>AI training drives the acceleration: spend rises from $70B (2024) to $260B (2027), surpassing non-AI cloud capex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>
                <a:solidFill>
                  <a:srgbClr val="051C2C"/>
                </a:solidFill>
                <a:latin typeface="Calibri"/>
              </a:rPr>
              <a:t>•   </a:t>
            </a:r>
            <a:r>
              <a:rPr sz="1200">
                <a:solidFill>
                  <a:srgbClr val="1A1A1A"/>
                </a:solidFill>
                <a:latin typeface="Calibri"/>
              </a:rPr>
              <a:t>Inference workloads grow 4x by 2027 as enterprise adoption scales beyond pilots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>
                <a:solidFill>
                  <a:srgbClr val="051C2C"/>
                </a:solidFill>
                <a:latin typeface="Calibri"/>
              </a:rPr>
              <a:t>•   </a:t>
            </a:r>
            <a:r>
              <a:rPr sz="1200">
                <a:solidFill>
                  <a:srgbClr val="1A1A1A"/>
                </a:solidFill>
                <a:latin typeface="Calibri"/>
              </a:rPr>
              <a:t>Hyperscale absorbs 85% of incremental spend; colocation share contracts to ~25% by 2027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>
                <a:solidFill>
                  <a:srgbClr val="051C2C"/>
                </a:solidFill>
                <a:latin typeface="Calibri"/>
              </a:rPr>
              <a:t>•   </a:t>
            </a:r>
            <a:r>
              <a:rPr sz="1200">
                <a:solidFill>
                  <a:srgbClr val="1A1A1A"/>
                </a:solidFill>
                <a:latin typeface="Calibri"/>
              </a:rPr>
              <a:t>Liquid cooling moves from optional to mandatory; 70% of new hyperscale builds spec it by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49BA8"/>
                </a:solidFill>
                <a:latin typeface="Calibri"/>
              </a:rPr>
              <a:t>* Hyperscale defined as AWS, Azure, GCP, Meta, Oracle, and Alibaba combined.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Synergy Research Group, 2024; JLL Data Center Outlook, 2024; IDC Worldwide AI Infrastructure Tracker,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2834640"/>
            <a:ext cx="731520" cy="0"/>
          </a:xfrm>
          <a:prstGeom prst="line">
            <a:avLst/>
          </a:prstGeom>
          <a:ln w="31750">
            <a:solidFill>
              <a:srgbClr val="225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30175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251FF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51C2C"/>
                </a:solidFill>
                <a:latin typeface="Georgia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Top 4 hyperscalers control 78% of cloud spend; AWS leads but Azure and GCP gain share each year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69919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49BA8"/>
                </a:solidFill>
                <a:latin typeface="Calibri"/>
              </a:rPr>
              <a:t>Percentage share of global cloud infrastructure spend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17320"/>
          <a:ext cx="6991922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69162" y="1234440"/>
            <a:ext cx="39653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49BA8"/>
                </a:solidFill>
                <a:latin typeface="Calibri"/>
              </a:rPr>
              <a:t>KEY TAKEAWAYS</a:t>
            </a:r>
          </a:p>
        </p:txBody>
      </p:sp>
      <p:pic>
        <p:nvPicPr>
          <p:cNvPr id="7" name="Picture 6" descr="aws.amazon.c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462" y="189738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2122" y="1554480"/>
            <a:ext cx="314237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AWS: share compressed 33% → 32% over two years; absolute dollars still grow ~25% YoY</a:t>
            </a:r>
          </a:p>
        </p:txBody>
      </p:sp>
      <p:pic>
        <p:nvPicPr>
          <p:cNvPr id="9" name="Picture 8" descr="microsoft.c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462" y="299466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2122" y="2651760"/>
            <a:ext cx="314237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Azure: adds ~1pp annually; OpenAI exclusivity and enterprise integration are the wedges</a:t>
            </a:r>
          </a:p>
        </p:txBody>
      </p:sp>
      <p:pic>
        <p:nvPicPr>
          <p:cNvPr id="11" name="Picture 10" descr="cloud.google.c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284" y="4091940"/>
            <a:ext cx="401835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2122" y="3749040"/>
            <a:ext cx="314237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Google Cloud: AI services drive incremental share against AWS general-purpose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Synergy Research Group Cloud Infrastructure Quarterly,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Colocation remains fragmented: top 5 hold just 35% combined, with Equinix and Digital Realty leading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69919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49BA8"/>
                </a:solidFill>
                <a:latin typeface="Calibri"/>
              </a:rPr>
              <a:t>Percentage share of global colocation revenue*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17320"/>
          <a:ext cx="6991922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69162" y="1234440"/>
            <a:ext cx="39653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49BA8"/>
                </a:solidFill>
                <a:latin typeface="Calibri"/>
              </a:rPr>
              <a:t>KEY TAKEAWAYS</a:t>
            </a:r>
          </a:p>
        </p:txBody>
      </p:sp>
      <p:pic>
        <p:nvPicPr>
          <p:cNvPr id="7" name="Picture 6" descr="equinix.c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462" y="189738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2122" y="1554480"/>
            <a:ext cx="314237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Equinix: leads on retail interconnection and brand premium; trades at ~28x EBITDA</a:t>
            </a:r>
          </a:p>
        </p:txBody>
      </p:sp>
      <p:pic>
        <p:nvPicPr>
          <p:cNvPr id="9" name="Picture 8" descr="digitalrealty.c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462" y="299466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2122" y="2651760"/>
            <a:ext cx="314237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Digital Realty: leads on hyperscale wholesale; trades at ~22x EBITDA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9162" y="3749040"/>
            <a:ext cx="640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051C2C"/>
                </a:solidFill>
                <a:latin typeface="Georgia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2122" y="3749040"/>
            <a:ext cx="314237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Tier-2 metros (Atlanta, Dallas, Phoenix) are the consolidation battleground for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49BA8"/>
                </a:solidFill>
                <a:latin typeface="Calibri"/>
              </a:rPr>
              <a:t>* Top 5 combined; remaining 65% split across 200+ regional and specialty providers.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Structure Research Global Colocation Census,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Hyperscalers move toward self-build for AI; colocation pivots to enterprise hybrid and AI startups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80160"/>
            <a:ext cx="54557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51C2C"/>
                </a:solidFill>
                <a:latin typeface="Georgia"/>
              </a:rPr>
              <a:t>Hyperscaler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640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051C2C"/>
                </a:solidFill>
                <a:latin typeface="Georgia"/>
              </a:rPr>
              <a:t>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65960"/>
            <a:ext cx="463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Self-build AI campuses to capture full margin and control power, cooling, and 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640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051C2C"/>
                </a:solidFill>
                <a:latin typeface="Georgia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63240"/>
            <a:ext cx="463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Vertical integration: custom silicon (Trainium, TPU, Maia), networking, optical interconnect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640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051C2C"/>
                </a:solidFill>
                <a:latin typeface="Georgia"/>
              </a:rPr>
              <a:t>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60520"/>
            <a:ext cx="463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Multi-region power deals: nuclear PPAs, gigawatt-scale wind and solar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280160"/>
            <a:ext cx="54557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051C2C"/>
                </a:solidFill>
                <a:latin typeface="Georgia"/>
              </a:rPr>
              <a:t>Colocation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65960"/>
            <a:ext cx="640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051C2C"/>
                </a:solidFill>
                <a:latin typeface="Georgia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1687" y="1965960"/>
            <a:ext cx="463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Enterprise hybrid: 60% of revenue from financial services, healthcare, and government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3063240"/>
            <a:ext cx="640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051C2C"/>
                </a:solidFill>
                <a:latin typeface="Georgia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687" y="3063240"/>
            <a:ext cx="463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AI startup foundry: powered shells with pre-installed liquid cooling for unicorn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4160520"/>
            <a:ext cx="640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051C2C"/>
                </a:solidFill>
                <a:latin typeface="Georgia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1687" y="4160520"/>
            <a:ext cx="4632807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Edge expansion: tier-2 metros where hyperscalers underbuild, locking in latency-sensitive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JLL Data Center Outlook, 2024; company earnings filings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2834640"/>
            <a:ext cx="731520" cy="0"/>
          </a:xfrm>
          <a:prstGeom prst="line">
            <a:avLst/>
          </a:prstGeom>
          <a:ln w="31750">
            <a:solidFill>
              <a:srgbClr val="225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301752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2251FF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051C2C"/>
                </a:solidFill>
                <a:latin typeface="Georgia"/>
              </a:rPr>
              <a:t>Where the capacity is 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Five regions absorb 70% of new capacity; the US heartland sees the largest acceleration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49BA8"/>
                </a:solidFill>
                <a:latin typeface="Calibri"/>
              </a:rPr>
              <a:t>Gigawatts of contracted IT load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17320"/>
          <a:ext cx="11277295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60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49BA8"/>
                </a:solidFill>
                <a:latin typeface="Calibri"/>
              </a:rPr>
              <a:t>KEY TAKEAWAYS</a:t>
            </a:r>
          </a:p>
        </p:txBody>
      </p:sp>
      <p:pic>
        <p:nvPicPr>
          <p:cNvPr id="7" name="Picture 6" descr="dominionenergy.c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38" y="4571238"/>
            <a:ext cx="336804" cy="3368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4480560"/>
            <a:ext cx="4632807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Dominion paused new high-density requests in 2024; North VA queue stretches 7+ years</a:t>
            </a:r>
          </a:p>
        </p:txBody>
      </p:sp>
      <p:pic>
        <p:nvPicPr>
          <p:cNvPr id="9" name="Picture 8" descr="hydroquebec.c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8" y="5089398"/>
            <a:ext cx="336804" cy="3368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4998720"/>
            <a:ext cx="4632807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Hydro-Quebec is the cleanest power option: 95% hydro grid attractive for AI training</a:t>
            </a:r>
          </a:p>
        </p:txBody>
      </p:sp>
      <p:pic>
        <p:nvPicPr>
          <p:cNvPr id="11" name="Picture 10" descr="midamericanenergy.c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38" y="5607558"/>
            <a:ext cx="336804" cy="3368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5516880"/>
            <a:ext cx="4632807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MidAmerican (Iowa) attracts hyperscalers via long-term clean-power PPAs</a:t>
            </a:r>
          </a:p>
        </p:txBody>
      </p:sp>
      <p:pic>
        <p:nvPicPr>
          <p:cNvPr id="13" name="Picture 12" descr="constellationenergy.c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130" y="4571238"/>
            <a:ext cx="533273" cy="3368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01687" y="4480560"/>
            <a:ext cx="4632807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Constellation-Microsoft deal sets the SMR/nuclear-restart template for 2027 unlock</a:t>
            </a:r>
          </a:p>
        </p:txBody>
      </p:sp>
      <p:pic>
        <p:nvPicPr>
          <p:cNvPr id="15" name="Picture 14" descr="ercot.c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0365" y="5089398"/>
            <a:ext cx="336804" cy="3368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01687" y="4998720"/>
            <a:ext cx="4632807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ERCOT (Texas) leads on speed: 18-month interconnect for projects under 200MW</a:t>
            </a:r>
          </a:p>
        </p:txBody>
      </p:sp>
      <p:pic>
        <p:nvPicPr>
          <p:cNvPr id="17" name="Picture 16" descr="pif.gov.s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0365" y="5607558"/>
            <a:ext cx="336804" cy="3368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01687" y="5516880"/>
            <a:ext cx="4632807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PIF (Saudi sovereign wealth fund) backs Riyadh: capital-rich, queue-light, gas-heavy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49BA8"/>
                </a:solidFill>
                <a:latin typeface="Calibri"/>
              </a:rPr>
              <a:t>* Power, not land or fiber, is now the binding constraint; interconnect queues range from 4 to 7 years.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JLL Data Center Outlook, 2024; ERCOT Capacity Outlook, 2024; Hydro-Quebec Industrial Customer Briefing,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Build NYAL data center exposure in Texas and Quebec; partner with colocation incumbents in tier-2 metros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7295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  <a:gridCol w="3047695"/>
              </a:tblGrid>
              <a:tr h="5394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051C2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Investment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Issue term sheets for two TX powered-shell sites by 2026-09; target 50MW 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Texas footprint locked ahead of 2027 demand peak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Strategy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Negotiate Hydro-Quebec PPA with anchor tenant (Anthropic or OpenAI) by 2026-12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Clean-power positioning, 15-year cost 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Sign MSAs with Equinix and Digital Realty for tier-2 metro colocation by 2026-08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Coverage in 12 metros without capex commitment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Capital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Raise $1.2B preferred equity for AI-campus development by 2026-11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Capital committed, dilution minimized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051C2C"/>
                </a:solidFill>
                <a:latin typeface="Georgi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49BA8"/>
                </a:solidFill>
                <a:latin typeface="Calibri"/>
              </a:rPr>
              <a:t>Backup detail and supporting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Methodology: market sizing reconciles four data sources and a NYAL-built power-availability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234440"/>
            <a:ext cx="11277295" cy="4800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Cloud infrastructure spend reconciled across Synergy Research, IDC, Dell'Oro, and Gartner; 2024 baseline within +/- 4%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Colocation share derived from Structure Research census plus public 10-Ks for top 10 providers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Regional capacity figures triangulated from JLL, Dgtl Infra, and ERCOT/Hydro-Quebec interconnect filings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>
                <a:solidFill>
                  <a:srgbClr val="051C2C"/>
                </a:solidFill>
                <a:latin typeface="Calibri"/>
              </a:rPr>
              <a:t>•   </a:t>
            </a:r>
            <a:r>
              <a:rPr sz="1400">
                <a:solidFill>
                  <a:srgbClr val="1A1A1A"/>
                </a:solidFill>
                <a:latin typeface="Calibri"/>
              </a:rPr>
              <a:t>Power-availability model: 12-month rolling queue depth across 18 ISOs, mapped to hyperscaler RFP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NYAL data center research methodology,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051C2C"/>
                </a:solidFill>
                <a:latin typeface="Georgia"/>
              </a:rPr>
              <a:t>Detailed hyperscaler capex by year: AWS leads in absolute dollars, Microsoft accelerates fastest in 2025-2027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72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69919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49BA8"/>
                </a:solidFill>
                <a:latin typeface="Calibri"/>
              </a:rPr>
              <a:t>USD billions, annual data center and AI capex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17320"/>
          <a:ext cx="6991922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69162" y="1234440"/>
            <a:ext cx="39653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49BA8"/>
                </a:solidFill>
                <a:latin typeface="Calibri"/>
              </a:rPr>
              <a:t>KEY TAKEAWAYS</a:t>
            </a:r>
          </a:p>
        </p:txBody>
      </p:sp>
      <p:pic>
        <p:nvPicPr>
          <p:cNvPr id="7" name="Picture 6" descr="microsoft.c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462" y="189738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2122" y="1554480"/>
            <a:ext cx="314237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Microsoft surpasses AWS in 2025 incremental capex; OpenAI partnership drives the gap</a:t>
            </a:r>
          </a:p>
        </p:txBody>
      </p:sp>
      <p:pic>
        <p:nvPicPr>
          <p:cNvPr id="9" name="Picture 8" descr="meta.c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882" y="2994660"/>
            <a:ext cx="54864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2122" y="2651760"/>
            <a:ext cx="314237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Meta's 2024-2025 inflection reflects the pivot to in-house AI (Llama, AI Studio, Reels recommender)</a:t>
            </a:r>
          </a:p>
        </p:txBody>
      </p:sp>
      <p:pic>
        <p:nvPicPr>
          <p:cNvPr id="11" name="Picture 10" descr="cloud.google.c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8284" y="4091940"/>
            <a:ext cx="401835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2122" y="3749040"/>
            <a:ext cx="314237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Google's slower growth reflects GCP's smaller share, not strategic restraint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1127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49BA8"/>
                </a:solidFill>
                <a:latin typeface="Calibri"/>
              </a:rPr>
              <a:t>* Includes both data center construction and AI accelerator purchases; excludes traditional R&amp;D.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84579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49BA8"/>
                </a:solidFill>
                <a:latin typeface="Calibri"/>
              </a:rPr>
              <a:t>Source: Company 10-Ks and quarterly capex disclosures, NYAL analysis,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949BA8"/>
                </a:solidFill>
                <a:latin typeface="Calibri"/>
              </a:rPr>
              <a:t>Page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