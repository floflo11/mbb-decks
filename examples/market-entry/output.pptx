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Vietnam</c:v>
                </c:pt>
              </c:strCache>
            </c:strRef>
          </c:tx>
          <c:spPr>
            <a:solidFill>
              <a:srgbClr val="051C2C"/>
            </a:solidFill>
            <a:ln>
              <a:noFill/>
            </a:ln>
          </c:spPr>
          <c:cat>
            <c:strRef>
              <c:f>Sheet1!$A$2:$A$4</c:f>
              <c:strCache>
                <c:ptCount val="3"/>
                <c:pt idx="0">
                  <c:v>2020</c:v>
                </c:pt>
                <c:pt idx="1">
                  <c:v>2025</c:v>
                </c:pt>
                <c:pt idx="2">
                  <c:v>2030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180</c:v>
                </c:pt>
                <c:pt idx="1">
                  <c:v>320</c:v>
                </c:pt>
                <c:pt idx="2">
                  <c:v>540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Indonesia</c:v>
                </c:pt>
              </c:strCache>
            </c:strRef>
          </c:tx>
          <c:spPr>
            <a:solidFill>
              <a:srgbClr val="2251FF"/>
            </a:solidFill>
            <a:ln>
              <a:noFill/>
            </a:ln>
          </c:spPr>
          <c:cat>
            <c:strRef>
              <c:f>Sheet1!$A$2:$A$4</c:f>
              <c:strCache>
                <c:ptCount val="3"/>
                <c:pt idx="0">
                  <c:v>2020</c:v>
                </c:pt>
                <c:pt idx="1">
                  <c:v>2025</c:v>
                </c:pt>
                <c:pt idx="2">
                  <c:v>2030</c:v>
                </c:pt>
              </c:strCache>
            </c: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420</c:v>
                </c:pt>
                <c:pt idx="1">
                  <c:v>680</c:v>
                </c:pt>
                <c:pt idx="2">
                  <c:v>980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Other SEA</c:v>
                </c:pt>
              </c:strCache>
            </c:strRef>
          </c:tx>
          <c:spPr>
            <a:solidFill>
              <a:srgbClr val="949BA8"/>
            </a:solidFill>
            <a:ln>
              <a:noFill/>
            </a:ln>
          </c:spPr>
          <c:cat>
            <c:strRef>
              <c:f>Sheet1!$A$2:$A$4</c:f>
              <c:strCache>
                <c:ptCount val="3"/>
                <c:pt idx="0">
                  <c:v>2020</c:v>
                </c:pt>
                <c:pt idx="1">
                  <c:v>2025</c:v>
                </c:pt>
                <c:pt idx="2">
                  <c:v>2030</c:v>
                </c:pt>
              </c:strCache>
            </c:strRef>
          </c:cat>
          <c:val>
            <c:numRef>
              <c:f>Sheet1!$D$2:$D$4</c:f>
              <c:numCache>
                <c:formatCode>General</c:formatCode>
                <c:ptCount val="3"/>
                <c:pt idx="0">
                  <c:v>900</c:v>
                </c:pt>
                <c:pt idx="1">
                  <c:v>1100</c:v>
                </c:pt>
                <c:pt idx="2">
                  <c:v>1280</c:v>
                </c:pt>
              </c:numCache>
            </c:numRef>
          </c:val>
        </c:ser>
        <c:dLbls>
          <c:numFmt formatCode="#,##0.0" sourceLinked="0"/>
          <c:txPr>
            <a:bodyPr/>
            <a:lstStyle/>
            <a:p>
              <a:pPr>
                <a:defRPr sz="900">
                  <a:solidFill>
                    <a:srgbClr val="1A1A1A"/>
                  </a:solidFill>
                  <a:latin typeface="Calibri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none"/>
        <c:minorTickMark val="none"/>
        <c:tickLblPos val="nextTo"/>
        <c:txPr>
          <a:bodyPr/>
          <a:lstStyle/>
          <a:p>
            <a:pPr>
              <a:defRPr sz="1000">
                <a:solidFill>
                  <a:srgbClr val="1A1A1A"/>
                </a:solidFill>
                <a:latin typeface="Calibri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1472.0"/>
        </c:scaling>
        <c:delete val="0"/>
        <c:axPos val="l"/>
        <c:numFmt formatCode=";;;" sourceLinked="0"/>
        <c:majorTickMark val="none"/>
        <c:minorTickMark val="none"/>
        <c:tickLblPos val="nextTo"/>
        <c:txPr>
          <a:bodyPr/>
          <a:lstStyle/>
          <a:p>
            <a:pPr>
              <a:defRPr sz="100"/>
            </a:pPr>
          </a:p>
        </c:txPr>
        <c:crossAx val="-2068027336"/>
        <c:crosses val="autoZero"/>
      </c:valAx>
    </c:plotArea>
    <c:legend>
      <c:legendPos val="b"/>
      <c:overlay val="0"/>
      <c:txPr>
        <a:bodyPr/>
        <a:lstStyle/>
        <a:p>
          <a:pPr>
            <a:defRPr sz="1000">
              <a:latin typeface="Calibri"/>
            </a:defRPr>
          </a:pPr>
        </a:p>
      </c:txPr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Partner X</c:v>
                </c:pt>
              </c:strCache>
            </c:strRef>
          </c:tx>
          <c:spPr>
            <a:solidFill>
              <a:srgbClr val="051C2C"/>
            </a:solidFill>
            <a:ln>
              <a:noFill/>
            </a:ln>
          </c:spPr>
          <c:cat>
            <c:strRef>
              <c:f>Sheet1!$A$2:$A$5</c:f>
              <c:strCache>
                <c:ptCount val="4"/>
                <c:pt idx="0">
                  <c:v>Distribution</c:v>
                </c:pt>
                <c:pt idx="1">
                  <c:v>Regulatory</c:v>
                </c:pt>
                <c:pt idx="2">
                  <c:v>Category fit</c:v>
                </c:pt>
                <c:pt idx="3">
                  <c:v>Capex governance*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9.2</c:v>
                </c:pt>
                <c:pt idx="1">
                  <c:v>8.8</c:v>
                </c:pt>
                <c:pt idx="2">
                  <c:v>9.0</c:v>
                </c:pt>
                <c:pt idx="3">
                  <c:v>6.5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Partner Y</c:v>
                </c:pt>
              </c:strCache>
            </c:strRef>
          </c:tx>
          <c:spPr>
            <a:solidFill>
              <a:srgbClr val="2251FF"/>
            </a:solidFill>
            <a:ln>
              <a:noFill/>
            </a:ln>
          </c:spPr>
          <c:cat>
            <c:strRef>
              <c:f>Sheet1!$A$2:$A$5</c:f>
              <c:strCache>
                <c:ptCount val="4"/>
                <c:pt idx="0">
                  <c:v>Distribution</c:v>
                </c:pt>
                <c:pt idx="1">
                  <c:v>Regulatory</c:v>
                </c:pt>
                <c:pt idx="2">
                  <c:v>Category fit</c:v>
                </c:pt>
                <c:pt idx="3">
                  <c:v>Capex governance*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7.5</c:v>
                </c:pt>
                <c:pt idx="1">
                  <c:v>7.0</c:v>
                </c:pt>
                <c:pt idx="2">
                  <c:v>8.2</c:v>
                </c:pt>
                <c:pt idx="3">
                  <c:v>8.0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Partner Z</c:v>
                </c:pt>
              </c:strCache>
            </c:strRef>
          </c:tx>
          <c:spPr>
            <a:solidFill>
              <a:srgbClr val="949BA8"/>
            </a:solidFill>
            <a:ln>
              <a:noFill/>
            </a:ln>
          </c:spPr>
          <c:cat>
            <c:strRef>
              <c:f>Sheet1!$A$2:$A$5</c:f>
              <c:strCache>
                <c:ptCount val="4"/>
                <c:pt idx="0">
                  <c:v>Distribution</c:v>
                </c:pt>
                <c:pt idx="1">
                  <c:v>Regulatory</c:v>
                </c:pt>
                <c:pt idx="2">
                  <c:v>Category fit</c:v>
                </c:pt>
                <c:pt idx="3">
                  <c:v>Capex governance*</c:v>
                </c:pt>
              </c:strCache>
            </c:strRef>
          </c:cat>
          <c:val>
            <c:numRef>
              <c:f>Sheet1!$D$2:$D$5</c:f>
              <c:numCache>
                <c:formatCode>General</c:formatCode>
                <c:ptCount val="4"/>
                <c:pt idx="0">
                  <c:v>6.0</c:v>
                </c:pt>
                <c:pt idx="1">
                  <c:v>8.5</c:v>
                </c:pt>
                <c:pt idx="2">
                  <c:v>6.5</c:v>
                </c:pt>
                <c:pt idx="3">
                  <c:v>7.5</c:v>
                </c:pt>
              </c:numCache>
            </c:numRef>
          </c:val>
        </c:ser>
        <c:dLbls>
          <c:numFmt formatCode="#,##0.0" sourceLinked="0"/>
          <c:txPr>
            <a:bodyPr/>
            <a:lstStyle/>
            <a:p>
              <a:pPr>
                <a:defRPr sz="900">
                  <a:solidFill>
                    <a:srgbClr val="1A1A1A"/>
                  </a:solidFill>
                  <a:latin typeface="Calibri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none"/>
        <c:minorTickMark val="none"/>
        <c:tickLblPos val="nextTo"/>
        <c:txPr>
          <a:bodyPr/>
          <a:lstStyle/>
          <a:p>
            <a:pPr>
              <a:defRPr sz="1000">
                <a:solidFill>
                  <a:srgbClr val="1A1A1A"/>
                </a:solidFill>
                <a:latin typeface="Calibri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10.579999999999998"/>
        </c:scaling>
        <c:delete val="0"/>
        <c:axPos val="l"/>
        <c:numFmt formatCode=";;;" sourceLinked="0"/>
        <c:majorTickMark val="none"/>
        <c:minorTickMark val="none"/>
        <c:tickLblPos val="nextTo"/>
        <c:txPr>
          <a:bodyPr/>
          <a:lstStyle/>
          <a:p>
            <a:pPr>
              <a:defRPr sz="100"/>
            </a:pPr>
          </a:p>
        </c:txPr>
        <c:crossAx val="-2068027336"/>
        <c:crosses val="autoZero"/>
      </c:valAx>
    </c:plotArea>
    <c:legend>
      <c:legendPos val="b"/>
      <c:overlay val="0"/>
      <c:txPr>
        <a:bodyPr/>
        <a:lstStyle/>
        <a:p>
          <a:pPr>
            <a:defRPr sz="1000">
              <a:latin typeface="Calibri"/>
            </a:defRPr>
          </a:pPr>
        </a:p>
      </c:txPr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Revenue</c:v>
                </c:pt>
              </c:strCache>
            </c:strRef>
          </c:tx>
          <c:spPr>
            <a:solidFill>
              <a:srgbClr val="051C2C"/>
            </a:solidFill>
            <a:ln>
              <a:noFill/>
            </a:ln>
          </c:spPr>
          <c:cat>
            <c:strRef>
              <c:f>Sheet1!$A$2:$A$6</c:f>
              <c:strCache>
                <c:ptCount val="5"/>
                <c:pt idx="0">
                  <c:v>Y1</c:v>
                </c:pt>
                <c:pt idx="1">
                  <c:v>Y2</c:v>
                </c:pt>
                <c:pt idx="2">
                  <c:v>Y3</c:v>
                </c:pt>
                <c:pt idx="3">
                  <c:v>Y4</c:v>
                </c:pt>
                <c:pt idx="4">
                  <c:v>Y5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25</c:v>
                </c:pt>
                <c:pt idx="1">
                  <c:v>65</c:v>
                </c:pt>
                <c:pt idx="2">
                  <c:v>110</c:v>
                </c:pt>
                <c:pt idx="3">
                  <c:v>150</c:v>
                </c:pt>
                <c:pt idx="4">
                  <c:v>180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EBITDA</c:v>
                </c:pt>
              </c:strCache>
            </c:strRef>
          </c:tx>
          <c:spPr>
            <a:solidFill>
              <a:srgbClr val="2251FF"/>
            </a:solidFill>
            <a:ln>
              <a:noFill/>
            </a:ln>
          </c:spPr>
          <c:cat>
            <c:strRef>
              <c:f>Sheet1!$A$2:$A$6</c:f>
              <c:strCache>
                <c:ptCount val="5"/>
                <c:pt idx="0">
                  <c:v>Y1</c:v>
                </c:pt>
                <c:pt idx="1">
                  <c:v>Y2</c:v>
                </c:pt>
                <c:pt idx="2">
                  <c:v>Y3</c:v>
                </c:pt>
                <c:pt idx="3">
                  <c:v>Y4</c:v>
                </c:pt>
                <c:pt idx="4">
                  <c:v>Y5</c:v>
                </c:pt>
              </c:strCache>
            </c: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-8</c:v>
                </c:pt>
                <c:pt idx="1">
                  <c:v>4</c:v>
                </c:pt>
                <c:pt idx="2">
                  <c:v>14</c:v>
                </c:pt>
                <c:pt idx="3">
                  <c:v>24</c:v>
                </c:pt>
                <c:pt idx="4">
                  <c:v>32</c:v>
                </c:pt>
              </c:numCache>
            </c:numRef>
          </c:val>
        </c:ser>
        <c:dLbls>
          <c:numFmt formatCode="#,##0.0" sourceLinked="0"/>
          <c:txPr>
            <a:bodyPr/>
            <a:lstStyle/>
            <a:p>
              <a:pPr>
                <a:defRPr sz="900">
                  <a:solidFill>
                    <a:srgbClr val="1A1A1A"/>
                  </a:solidFill>
                  <a:latin typeface="Calibri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none"/>
        <c:minorTickMark val="none"/>
        <c:tickLblPos val="nextTo"/>
        <c:txPr>
          <a:bodyPr/>
          <a:lstStyle/>
          <a:p>
            <a:pPr>
              <a:defRPr sz="1000">
                <a:solidFill>
                  <a:srgbClr val="1A1A1A"/>
                </a:solidFill>
                <a:latin typeface="Calibri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206.99999999999997"/>
          <c:min val="-9.6"/>
        </c:scaling>
        <c:delete val="0"/>
        <c:axPos val="l"/>
        <c:numFmt formatCode=";;;" sourceLinked="0"/>
        <c:majorTickMark val="none"/>
        <c:minorTickMark val="none"/>
        <c:tickLblPos val="nextTo"/>
        <c:txPr>
          <a:bodyPr/>
          <a:lstStyle/>
          <a:p>
            <a:pPr>
              <a:defRPr sz="100"/>
            </a:pPr>
          </a:p>
        </c:txPr>
        <c:crossAx val="-2068027336"/>
        <c:crosses val="autoZero"/>
      </c:valAx>
    </c:plotArea>
    <c:legend>
      <c:legendPos val="b"/>
      <c:overlay val="0"/>
      <c:txPr>
        <a:bodyPr/>
        <a:lstStyle/>
        <a:p>
          <a:pPr>
            <a:defRPr sz="1000">
              <a:latin typeface="Calibri"/>
            </a:defRPr>
          </a:pPr>
        </a:p>
      </c:txPr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457200" y="2103120"/>
            <a:ext cx="731520" cy="0"/>
          </a:xfrm>
          <a:prstGeom prst="line">
            <a:avLst/>
          </a:prstGeom>
          <a:ln w="31750">
            <a:solidFill>
              <a:srgbClr val="2251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TextBox 2"/>
          <p:cNvSpPr txBox="1"/>
          <p:nvPr/>
        </p:nvSpPr>
        <p:spPr>
          <a:xfrm>
            <a:off x="457200" y="2377440"/>
            <a:ext cx="11277295" cy="1463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4000" b="0" i="0">
                <a:solidFill>
                  <a:srgbClr val="051C2C"/>
                </a:solidFill>
                <a:latin typeface="Georgia"/>
              </a:rPr>
              <a:t>Vietnam Market Entry: Q3 2026 Recommendation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931920"/>
            <a:ext cx="11277295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0" i="1">
                <a:solidFill>
                  <a:srgbClr val="1A1A1A"/>
                </a:solidFill>
                <a:latin typeface="Georgia"/>
              </a:rPr>
              <a:t>Board pre-read for the August strategy committee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263640"/>
            <a:ext cx="1127729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949BA8"/>
                </a:solidFill>
                <a:latin typeface="Calibri"/>
              </a:rPr>
              <a:t>Iris Meng | Acme Strategy Group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1277295" cy="64008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800" b="0" i="0">
                <a:solidFill>
                  <a:srgbClr val="051C2C"/>
                </a:solidFill>
                <a:latin typeface="Georgia"/>
              </a:rPr>
              <a:t>Enter Vietnam Q3 2026 via $40M JV with Partner X for projected 3.2x return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457200" y="1051560"/>
            <a:ext cx="11277295" cy="0"/>
          </a:xfrm>
          <a:prstGeom prst="line">
            <a:avLst/>
          </a:prstGeom>
          <a:ln w="9525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457200" y="1234440"/>
            <a:ext cx="11277295" cy="48006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lnSpc>
                <a:spcPct val="130000"/>
              </a:lnSpc>
              <a:spcAft>
                <a:spcPts val="1000"/>
              </a:spcAft>
            </a:pPr>
            <a:r>
              <a:rPr sz="1400">
                <a:solidFill>
                  <a:srgbClr val="051C2C"/>
                </a:solidFill>
                <a:latin typeface="Calibri"/>
              </a:rPr>
              <a:t>•   </a:t>
            </a:r>
            <a:r>
              <a:rPr sz="1400">
                <a:solidFill>
                  <a:srgbClr val="1A1A1A"/>
                </a:solidFill>
                <a:latin typeface="Calibri"/>
              </a:rPr>
              <a:t>Vietnam offers Southeast Asia's fastest middle-class spending growth at 7% CAGR through 2030</a:t>
            </a:r>
          </a:p>
          <a:p>
            <a:pPr algn="l">
              <a:lnSpc>
                <a:spcPct val="130000"/>
              </a:lnSpc>
              <a:spcAft>
                <a:spcPts val="1000"/>
              </a:spcAft>
            </a:pPr>
            <a:r>
              <a:rPr sz="1400">
                <a:solidFill>
                  <a:srgbClr val="051C2C"/>
                </a:solidFill>
                <a:latin typeface="Calibri"/>
              </a:rPr>
              <a:t>•   </a:t>
            </a:r>
            <a:r>
              <a:rPr sz="1400">
                <a:solidFill>
                  <a:srgbClr val="1A1A1A"/>
                </a:solidFill>
                <a:latin typeface="Calibri"/>
              </a:rPr>
              <a:t>JV structure cuts capital-at-risk by ~60% versus greenfield with a six-month launch window</a:t>
            </a:r>
          </a:p>
          <a:p>
            <a:pPr algn="l">
              <a:lnSpc>
                <a:spcPct val="130000"/>
              </a:lnSpc>
              <a:spcAft>
                <a:spcPts val="1000"/>
              </a:spcAft>
            </a:pPr>
            <a:r>
              <a:rPr sz="1400">
                <a:solidFill>
                  <a:srgbClr val="051C2C"/>
                </a:solidFill>
                <a:latin typeface="Calibri"/>
              </a:rPr>
              <a:t>•   </a:t>
            </a:r>
            <a:r>
              <a:rPr sz="1400">
                <a:solidFill>
                  <a:srgbClr val="1A1A1A"/>
                </a:solidFill>
                <a:latin typeface="Calibri"/>
              </a:rPr>
              <a:t>Three local partners screened on distribution, regulatory, and category fit; Partner X recommended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905695" y="6400800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0" i="0">
                <a:solidFill>
                  <a:srgbClr val="949BA8"/>
                </a:solidFill>
                <a:latin typeface="Calibri"/>
              </a:rPr>
              <a:t>Page 2 / 14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1277295" cy="64008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800" b="0" i="0">
                <a:solidFill>
                  <a:srgbClr val="051C2C"/>
                </a:solidFill>
                <a:latin typeface="Georgia"/>
              </a:rPr>
              <a:t>Agenda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457200" y="1051560"/>
            <a:ext cx="11277295" cy="0"/>
          </a:xfrm>
          <a:prstGeom prst="line">
            <a:avLst/>
          </a:prstGeom>
          <a:ln w="9525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457200" y="1234440"/>
            <a:ext cx="11277295" cy="4800600"/>
          </a:xfrm>
          <a:prstGeom prst="rect">
            <a:avLst/>
          </a:prstGeom>
          <a:noFill/>
        </p:spPr>
        <p:txBody>
          <a:bodyPr wrap="square" lIns="0">
            <a:spAutoFit/>
          </a:bodyPr>
          <a:lstStyle/>
          <a:p>
            <a:pPr>
              <a:lnSpc>
                <a:spcPct val="130000"/>
              </a:lnSpc>
              <a:spcAft>
                <a:spcPts val="1800"/>
              </a:spcAft>
            </a:pPr>
            <a:r>
              <a:rPr sz="2800">
                <a:solidFill>
                  <a:srgbClr val="2251FF"/>
                </a:solidFill>
                <a:latin typeface="Georgia"/>
              </a:rPr>
              <a:t>01    </a:t>
            </a:r>
            <a:r>
              <a:rPr sz="2200">
                <a:solidFill>
                  <a:srgbClr val="051C2C"/>
                </a:solidFill>
                <a:latin typeface="Georgia"/>
              </a:rPr>
              <a:t>Market opportunity</a:t>
            </a:r>
          </a:p>
          <a:p>
            <a:pPr>
              <a:lnSpc>
                <a:spcPct val="100000"/>
              </a:lnSpc>
              <a:spcAft>
                <a:spcPts val="1400"/>
              </a:spcAft>
            </a:pPr>
            <a:r>
              <a:rPr sz="1200" i="1">
                <a:solidFill>
                  <a:srgbClr val="949BA8"/>
                </a:solidFill>
                <a:latin typeface="Calibri"/>
              </a:rPr>
              <a:t>         Why Southeast Asia, why Vietnam, why now</a:t>
            </a:r>
          </a:p>
          <a:p>
            <a:pPr>
              <a:lnSpc>
                <a:spcPct val="130000"/>
              </a:lnSpc>
              <a:spcAft>
                <a:spcPts val="1800"/>
              </a:spcAft>
            </a:pPr>
            <a:r>
              <a:rPr sz="2800">
                <a:solidFill>
                  <a:srgbClr val="2251FF"/>
                </a:solidFill>
                <a:latin typeface="Georgia"/>
              </a:rPr>
              <a:t>02    </a:t>
            </a:r>
            <a:r>
              <a:rPr sz="2200">
                <a:solidFill>
                  <a:srgbClr val="051C2C"/>
                </a:solidFill>
                <a:latin typeface="Georgia"/>
              </a:rPr>
              <a:t>Entry options</a:t>
            </a:r>
          </a:p>
          <a:p>
            <a:pPr>
              <a:lnSpc>
                <a:spcPct val="100000"/>
              </a:lnSpc>
              <a:spcAft>
                <a:spcPts val="1400"/>
              </a:spcAft>
            </a:pPr>
            <a:r>
              <a:rPr sz="1200" i="1">
                <a:solidFill>
                  <a:srgbClr val="949BA8"/>
                </a:solidFill>
                <a:latin typeface="Calibri"/>
              </a:rPr>
              <a:t>         Greenfield, acquisition, or joint venture</a:t>
            </a:r>
          </a:p>
          <a:p>
            <a:pPr>
              <a:lnSpc>
                <a:spcPct val="130000"/>
              </a:lnSpc>
              <a:spcAft>
                <a:spcPts val="1800"/>
              </a:spcAft>
            </a:pPr>
            <a:r>
              <a:rPr sz="2800">
                <a:solidFill>
                  <a:srgbClr val="2251FF"/>
                </a:solidFill>
                <a:latin typeface="Georgia"/>
              </a:rPr>
              <a:t>03    </a:t>
            </a:r>
            <a:r>
              <a:rPr sz="2200">
                <a:solidFill>
                  <a:srgbClr val="051C2C"/>
                </a:solidFill>
                <a:latin typeface="Georgia"/>
              </a:rPr>
              <a:t>Recommendation</a:t>
            </a:r>
          </a:p>
          <a:p>
            <a:pPr>
              <a:lnSpc>
                <a:spcPct val="100000"/>
              </a:lnSpc>
              <a:spcAft>
                <a:spcPts val="1400"/>
              </a:spcAft>
            </a:pPr>
            <a:r>
              <a:rPr sz="1200" i="1">
                <a:solidFill>
                  <a:srgbClr val="949BA8"/>
                </a:solidFill>
                <a:latin typeface="Calibri"/>
              </a:rPr>
              <a:t>         Joint venture with Local Partner X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905695" y="6400800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0" i="0">
                <a:solidFill>
                  <a:srgbClr val="949BA8"/>
                </a:solidFill>
                <a:latin typeface="Calibri"/>
              </a:rPr>
              <a:t>Page 3 / 14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457200" y="2834640"/>
            <a:ext cx="731520" cy="0"/>
          </a:xfrm>
          <a:prstGeom prst="line">
            <a:avLst/>
          </a:prstGeom>
          <a:ln w="31750">
            <a:solidFill>
              <a:srgbClr val="2251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TextBox 2"/>
          <p:cNvSpPr txBox="1"/>
          <p:nvPr/>
        </p:nvSpPr>
        <p:spPr>
          <a:xfrm>
            <a:off x="457200" y="3017520"/>
            <a:ext cx="11277295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4400" b="0" i="0">
                <a:solidFill>
                  <a:srgbClr val="2251FF"/>
                </a:solidFill>
                <a:latin typeface="Georgia"/>
              </a:rPr>
              <a:t>01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749039"/>
            <a:ext cx="11277295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200" b="0" i="0">
                <a:solidFill>
                  <a:srgbClr val="051C2C"/>
                </a:solidFill>
                <a:latin typeface="Georgia"/>
              </a:rPr>
              <a:t>Market opportunity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905695" y="6400800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0" i="0">
                <a:solidFill>
                  <a:srgbClr val="949BA8"/>
                </a:solidFill>
                <a:latin typeface="Calibri"/>
              </a:rPr>
              <a:t>Page 4 / 14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1277295" cy="64008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800" b="0" i="0">
                <a:solidFill>
                  <a:srgbClr val="051C2C"/>
                </a:solidFill>
                <a:latin typeface="Georgia"/>
              </a:rPr>
              <a:t>SEA middle-class spending reaches $2.8T by 2030, with Vietnam and Indonesia driving 70% of growth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457200" y="1051560"/>
            <a:ext cx="11277295" cy="0"/>
          </a:xfrm>
          <a:prstGeom prst="line">
            <a:avLst/>
          </a:prstGeom>
          <a:ln w="9525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457200" y="1417320"/>
          <a:ext cx="11277295" cy="393192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457200" y="1188720"/>
            <a:ext cx="73152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1">
                <a:solidFill>
                  <a:srgbClr val="949BA8"/>
                </a:solidFill>
                <a:latin typeface="Calibri"/>
              </a:rPr>
              <a:t>USD billions, middle-class household consumption*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126480"/>
            <a:ext cx="11277295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 i="1">
                <a:solidFill>
                  <a:srgbClr val="949BA8"/>
                </a:solidFill>
                <a:latin typeface="Calibri"/>
              </a:rPr>
              <a:t>* Excludes Singapore. Middle class defined as households earning $11k to $110k per year in PPP terms.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00800"/>
            <a:ext cx="8457971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 i="0">
                <a:solidFill>
                  <a:srgbClr val="949BA8"/>
                </a:solidFill>
                <a:latin typeface="Calibri"/>
              </a:rPr>
              <a:t>Source: World Bank, World Development Indicators, 2024; McKinsey Global Institute, Asia 2030, 2024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905695" y="6400800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0" i="0">
                <a:solidFill>
                  <a:srgbClr val="949BA8"/>
                </a:solidFill>
                <a:latin typeface="Calibri"/>
              </a:rPr>
              <a:t>Page 5 / 14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1277295" cy="64008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800" b="0" i="0">
                <a:solidFill>
                  <a:srgbClr val="051C2C"/>
                </a:solidFill>
                <a:latin typeface="Georgia"/>
              </a:rPr>
              <a:t>Acme's portfolio fits Vietnam's three fastest-growing categories with no Western incumbent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457200" y="1051560"/>
            <a:ext cx="11277295" cy="0"/>
          </a:xfrm>
          <a:prstGeom prst="line">
            <a:avLst/>
          </a:prstGeom>
          <a:ln w="9525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457200" y="1234440"/>
            <a:ext cx="11277295" cy="48006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lnSpc>
                <a:spcPct val="130000"/>
              </a:lnSpc>
              <a:spcAft>
                <a:spcPts val="1000"/>
              </a:spcAft>
            </a:pPr>
            <a:r>
              <a:rPr sz="1400">
                <a:solidFill>
                  <a:srgbClr val="051C2C"/>
                </a:solidFill>
                <a:latin typeface="Calibri"/>
              </a:rPr>
              <a:t>•   </a:t>
            </a:r>
            <a:r>
              <a:rPr sz="1400">
                <a:solidFill>
                  <a:srgbClr val="1A1A1A"/>
                </a:solidFill>
                <a:latin typeface="Calibri"/>
              </a:rPr>
              <a:t>Premium dairy: 12% CAGR through 2030, fragmented competition, no dominant Western brand at the premium tier</a:t>
            </a:r>
          </a:p>
          <a:p>
            <a:pPr algn="l">
              <a:lnSpc>
                <a:spcPct val="130000"/>
              </a:lnSpc>
              <a:spcAft>
                <a:spcPts val="1000"/>
              </a:spcAft>
            </a:pPr>
            <a:r>
              <a:rPr sz="1400">
                <a:solidFill>
                  <a:srgbClr val="051C2C"/>
                </a:solidFill>
                <a:latin typeface="Calibri"/>
              </a:rPr>
              <a:t>•   </a:t>
            </a:r>
            <a:r>
              <a:rPr sz="1400">
                <a:solidFill>
                  <a:srgbClr val="1A1A1A"/>
                </a:solidFill>
                <a:latin typeface="Calibri"/>
              </a:rPr>
              <a:t>Health and wellness: 9% CAGR, regulatory environment increasingly favorable to imported nutraceuticals</a:t>
            </a:r>
          </a:p>
          <a:p>
            <a:pPr algn="l">
              <a:lnSpc>
                <a:spcPct val="130000"/>
              </a:lnSpc>
              <a:spcAft>
                <a:spcPts val="1000"/>
              </a:spcAft>
            </a:pPr>
            <a:r>
              <a:rPr sz="1400">
                <a:solidFill>
                  <a:srgbClr val="051C2C"/>
                </a:solidFill>
                <a:latin typeface="Calibri"/>
              </a:rPr>
              <a:t>•   </a:t>
            </a:r>
            <a:r>
              <a:rPr sz="1400">
                <a:solidFill>
                  <a:srgbClr val="1A1A1A"/>
                </a:solidFill>
                <a:latin typeface="Calibri"/>
              </a:rPr>
              <a:t>Convenience foods: 8% CAGR, modern trade penetration tripling by 2030 via 7-Eleven and GS25 expansion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00800"/>
            <a:ext cx="8457971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 i="0">
                <a:solidFill>
                  <a:srgbClr val="949BA8"/>
                </a:solidFill>
                <a:latin typeface="Calibri"/>
              </a:rPr>
              <a:t>Source: Euromonitor Vietnam Consumer Outlook, 2024; Acme internal portfolio analysis, 2025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905695" y="6400800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0" i="0">
                <a:solidFill>
                  <a:srgbClr val="949BA8"/>
                </a:solidFill>
                <a:latin typeface="Calibri"/>
              </a:rPr>
              <a:t>Page 6 / 14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457200" y="2834640"/>
            <a:ext cx="731520" cy="0"/>
          </a:xfrm>
          <a:prstGeom prst="line">
            <a:avLst/>
          </a:prstGeom>
          <a:ln w="31750">
            <a:solidFill>
              <a:srgbClr val="2251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TextBox 2"/>
          <p:cNvSpPr txBox="1"/>
          <p:nvPr/>
        </p:nvSpPr>
        <p:spPr>
          <a:xfrm>
            <a:off x="457200" y="3017520"/>
            <a:ext cx="11277295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4400" b="0" i="0">
                <a:solidFill>
                  <a:srgbClr val="2251FF"/>
                </a:solidFill>
                <a:latin typeface="Georgia"/>
              </a:rPr>
              <a:t>02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749039"/>
            <a:ext cx="11277295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200" b="0" i="0">
                <a:solidFill>
                  <a:srgbClr val="051C2C"/>
                </a:solidFill>
                <a:latin typeface="Georgia"/>
              </a:rPr>
              <a:t>Entry options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905695" y="6400800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0" i="0">
                <a:solidFill>
                  <a:srgbClr val="949BA8"/>
                </a:solidFill>
                <a:latin typeface="Calibri"/>
              </a:rPr>
              <a:t>Page 7 / 14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1277295" cy="64008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800" b="0" i="0">
                <a:solidFill>
                  <a:srgbClr val="051C2C"/>
                </a:solidFill>
                <a:latin typeface="Georgia"/>
              </a:rPr>
              <a:t>JV beats greenfield and acquisition on capital risk, speed, and retained operational control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457200" y="1051560"/>
            <a:ext cx="11277295" cy="0"/>
          </a:xfrm>
          <a:prstGeom prst="line">
            <a:avLst/>
          </a:prstGeom>
          <a:ln w="9525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457200" y="1280160"/>
            <a:ext cx="5455767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0" i="0">
                <a:solidFill>
                  <a:srgbClr val="051C2C"/>
                </a:solidFill>
                <a:latin typeface="Georgia"/>
              </a:rPr>
              <a:t>Why JV wins on risk</a:t>
            </a:r>
          </a:p>
        </p:txBody>
      </p:sp>
      <p:sp>
        <p:nvSpPr>
          <p:cNvPr id="5" name="Oval 4"/>
          <p:cNvSpPr/>
          <p:nvPr/>
        </p:nvSpPr>
        <p:spPr>
          <a:xfrm>
            <a:off x="457200" y="2331720"/>
            <a:ext cx="365760" cy="365760"/>
          </a:xfrm>
          <a:prstGeom prst="ellipse">
            <a:avLst/>
          </a:prstGeom>
          <a:solidFill>
            <a:srgbClr val="FFFFFF"/>
          </a:solidFill>
          <a:ln w="9525">
            <a:solidFill>
              <a:srgbClr val="051C2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>
                <a:solidFill>
                  <a:srgbClr val="051C2C"/>
                </a:solidFill>
                <a:latin typeface="Georgia"/>
              </a:rPr>
              <a:t>$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87552" y="1965960"/>
            <a:ext cx="4925415" cy="10972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00" b="0" i="0">
                <a:solidFill>
                  <a:srgbClr val="1A1A1A"/>
                </a:solidFill>
                <a:latin typeface="Calibri"/>
              </a:rPr>
              <a:t>Capital-at-risk: $40M JV vs $80M greenfield vs $120M+ acquisition</a:t>
            </a:r>
          </a:p>
        </p:txBody>
      </p:sp>
      <p:sp>
        <p:nvSpPr>
          <p:cNvPr id="7" name="Oval 6"/>
          <p:cNvSpPr/>
          <p:nvPr/>
        </p:nvSpPr>
        <p:spPr>
          <a:xfrm>
            <a:off x="457200" y="3429000"/>
            <a:ext cx="365760" cy="365760"/>
          </a:xfrm>
          <a:prstGeom prst="ellipse">
            <a:avLst/>
          </a:prstGeom>
          <a:solidFill>
            <a:srgbClr val="FFFFFF"/>
          </a:solidFill>
          <a:ln w="9525">
            <a:solidFill>
              <a:srgbClr val="051C2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>
                <a:solidFill>
                  <a:srgbClr val="051C2C"/>
                </a:solidFill>
                <a:latin typeface="Georgia"/>
              </a:rPr>
              <a:t>✓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87552" y="3063240"/>
            <a:ext cx="4925415" cy="10972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00" b="0" i="0">
                <a:solidFill>
                  <a:srgbClr val="1A1A1A"/>
                </a:solidFill>
                <a:latin typeface="Calibri"/>
              </a:rPr>
              <a:t>Regulatory clearance in 4 to 6 months via partner's existing licenses</a:t>
            </a:r>
          </a:p>
        </p:txBody>
      </p:sp>
      <p:sp>
        <p:nvSpPr>
          <p:cNvPr id="9" name="Oval 8"/>
          <p:cNvSpPr/>
          <p:nvPr/>
        </p:nvSpPr>
        <p:spPr>
          <a:xfrm>
            <a:off x="457200" y="4526280"/>
            <a:ext cx="365760" cy="365760"/>
          </a:xfrm>
          <a:prstGeom prst="ellipse">
            <a:avLst/>
          </a:prstGeom>
          <a:solidFill>
            <a:srgbClr val="FFFFFF"/>
          </a:solidFill>
          <a:ln w="9525">
            <a:solidFill>
              <a:srgbClr val="051C2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>
                <a:solidFill>
                  <a:srgbClr val="051C2C"/>
                </a:solidFill>
                <a:latin typeface="Georgia"/>
              </a:rPr>
              <a:t>⬡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87552" y="4160520"/>
            <a:ext cx="4925415" cy="10972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00" b="0" i="0">
                <a:solidFill>
                  <a:srgbClr val="1A1A1A"/>
                </a:solidFill>
                <a:latin typeface="Calibri"/>
              </a:rPr>
              <a:t>Distribution access from day one through partner's 12,000-store network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78727" y="1280160"/>
            <a:ext cx="5455767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0" i="0">
                <a:solidFill>
                  <a:srgbClr val="051C2C"/>
                </a:solidFill>
                <a:latin typeface="Georgia"/>
              </a:rPr>
              <a:t>Why JV wins on speed</a:t>
            </a:r>
          </a:p>
        </p:txBody>
      </p:sp>
      <p:sp>
        <p:nvSpPr>
          <p:cNvPr id="12" name="Oval 11"/>
          <p:cNvSpPr/>
          <p:nvPr/>
        </p:nvSpPr>
        <p:spPr>
          <a:xfrm>
            <a:off x="6278727" y="2331720"/>
            <a:ext cx="365760" cy="365760"/>
          </a:xfrm>
          <a:prstGeom prst="ellipse">
            <a:avLst/>
          </a:prstGeom>
          <a:solidFill>
            <a:srgbClr val="FFFFFF"/>
          </a:solidFill>
          <a:ln w="9525">
            <a:solidFill>
              <a:srgbClr val="051C2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>
                <a:solidFill>
                  <a:srgbClr val="051C2C"/>
                </a:solidFill>
                <a:latin typeface="Georgia"/>
              </a:rPr>
              <a:t>→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09079" y="1965960"/>
            <a:ext cx="4925415" cy="10972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00" b="0" i="0">
                <a:solidFill>
                  <a:srgbClr val="1A1A1A"/>
                </a:solidFill>
                <a:latin typeface="Calibri"/>
              </a:rPr>
              <a:t>Six-month launch versus 24 months greenfield build-out</a:t>
            </a:r>
          </a:p>
        </p:txBody>
      </p:sp>
      <p:sp>
        <p:nvSpPr>
          <p:cNvPr id="14" name="Oval 13"/>
          <p:cNvSpPr/>
          <p:nvPr/>
        </p:nvSpPr>
        <p:spPr>
          <a:xfrm>
            <a:off x="6278727" y="3429000"/>
            <a:ext cx="365760" cy="365760"/>
          </a:xfrm>
          <a:prstGeom prst="ellipse">
            <a:avLst/>
          </a:prstGeom>
          <a:solidFill>
            <a:srgbClr val="FFFFFF"/>
          </a:solidFill>
          <a:ln w="9525">
            <a:solidFill>
              <a:srgbClr val="051C2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>
                <a:solidFill>
                  <a:srgbClr val="051C2C"/>
                </a:solidFill>
                <a:latin typeface="Georgia"/>
              </a:rPr>
              <a:t>●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09079" y="3063240"/>
            <a:ext cx="4925415" cy="10972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00" b="0" i="0">
                <a:solidFill>
                  <a:srgbClr val="1A1A1A"/>
                </a:solidFill>
                <a:latin typeface="Calibri"/>
              </a:rPr>
              <a:t>Local hiring infrastructure already in place</a:t>
            </a:r>
          </a:p>
        </p:txBody>
      </p:sp>
      <p:sp>
        <p:nvSpPr>
          <p:cNvPr id="16" name="Oval 15"/>
          <p:cNvSpPr/>
          <p:nvPr/>
        </p:nvSpPr>
        <p:spPr>
          <a:xfrm>
            <a:off x="6278727" y="4526280"/>
            <a:ext cx="365760" cy="365760"/>
          </a:xfrm>
          <a:prstGeom prst="ellipse">
            <a:avLst/>
          </a:prstGeom>
          <a:solidFill>
            <a:srgbClr val="FFFFFF"/>
          </a:solidFill>
          <a:ln w="9525">
            <a:solidFill>
              <a:srgbClr val="051C2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>
                <a:solidFill>
                  <a:srgbClr val="051C2C"/>
                </a:solidFill>
                <a:latin typeface="Georgia"/>
              </a:rPr>
              <a:t>★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09079" y="4160520"/>
            <a:ext cx="4925415" cy="10972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00" b="0" i="0">
                <a:solidFill>
                  <a:srgbClr val="1A1A1A"/>
                </a:solidFill>
                <a:latin typeface="Calibri"/>
              </a:rPr>
              <a:t>Brand localization can begin during negotiation, not after close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6400800"/>
            <a:ext cx="8457971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 i="0">
                <a:solidFill>
                  <a:srgbClr val="949BA8"/>
                </a:solidFill>
                <a:latin typeface="Calibri"/>
              </a:rPr>
              <a:t>Source: Acme corporate development analysis, 2025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905695" y="6400800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0" i="0">
                <a:solidFill>
                  <a:srgbClr val="949BA8"/>
                </a:solidFill>
                <a:latin typeface="Calibri"/>
              </a:rPr>
              <a:t>Page 8 / 14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457200" y="2834640"/>
            <a:ext cx="731520" cy="0"/>
          </a:xfrm>
          <a:prstGeom prst="line">
            <a:avLst/>
          </a:prstGeom>
          <a:ln w="31750">
            <a:solidFill>
              <a:srgbClr val="2251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TextBox 2"/>
          <p:cNvSpPr txBox="1"/>
          <p:nvPr/>
        </p:nvSpPr>
        <p:spPr>
          <a:xfrm>
            <a:off x="457200" y="3017520"/>
            <a:ext cx="11277295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4400" b="0" i="0">
                <a:solidFill>
                  <a:srgbClr val="2251FF"/>
                </a:solidFill>
                <a:latin typeface="Georgia"/>
              </a:rPr>
              <a:t>03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749039"/>
            <a:ext cx="11277295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200" b="0" i="0">
                <a:solidFill>
                  <a:srgbClr val="051C2C"/>
                </a:solidFill>
                <a:latin typeface="Georgia"/>
              </a:rPr>
              <a:t>Recommendation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905695" y="6400800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0" i="0">
                <a:solidFill>
                  <a:srgbClr val="949BA8"/>
                </a:solidFill>
                <a:latin typeface="Calibri"/>
              </a:rPr>
              <a:t>Page 9 / 14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1277295" cy="64008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800" b="0" i="0">
                <a:solidFill>
                  <a:srgbClr val="051C2C"/>
                </a:solidFill>
                <a:latin typeface="Georgia"/>
              </a:rPr>
              <a:t>Partner X leads on distribution, regulatory, and category fit; capex governance is the only gap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457200" y="1051560"/>
            <a:ext cx="11277295" cy="0"/>
          </a:xfrm>
          <a:prstGeom prst="line">
            <a:avLst/>
          </a:prstGeom>
          <a:ln w="9525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457200" y="1417320"/>
          <a:ext cx="11277295" cy="393192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457200" y="1188720"/>
            <a:ext cx="73152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1">
                <a:solidFill>
                  <a:srgbClr val="949BA8"/>
                </a:solidFill>
                <a:latin typeface="Calibri"/>
              </a:rPr>
              <a:t>Composite score, 0 to 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126480"/>
            <a:ext cx="11277295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 i="1">
                <a:solidFill>
                  <a:srgbClr val="949BA8"/>
                </a:solidFill>
                <a:latin typeface="Calibri"/>
              </a:rPr>
              <a:t>* Capex governance reflects Partner X's preference for unanimous-consent thresholds; counterproposal in negotiation.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00800"/>
            <a:ext cx="8457971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 i="0">
                <a:solidFill>
                  <a:srgbClr val="949BA8"/>
                </a:solidFill>
                <a:latin typeface="Calibri"/>
              </a:rPr>
              <a:t>Source: Acme partner due diligence, 2025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905695" y="6400800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0" i="0">
                <a:solidFill>
                  <a:srgbClr val="949BA8"/>
                </a:solidFill>
                <a:latin typeface="Calibri"/>
              </a:rPr>
              <a:t>Page 10 / 14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1277295" cy="64008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800" b="0" i="0">
                <a:solidFill>
                  <a:srgbClr val="051C2C"/>
                </a:solidFill>
                <a:latin typeface="Georgia"/>
              </a:rPr>
              <a:t>Approve $40M for the Vietnam JV with Partner X, targeting Q3 2026 launch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457200" y="1051560"/>
            <a:ext cx="11277295" cy="0"/>
          </a:xfrm>
          <a:prstGeom prst="line">
            <a:avLst/>
          </a:prstGeom>
          <a:ln w="9525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234440"/>
          <a:ext cx="11277295" cy="2697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/>
                <a:gridCol w="6400800"/>
                <a:gridCol w="3047695"/>
              </a:tblGrid>
              <a:tr h="539496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Owner</a:t>
                      </a:r>
                    </a:p>
                  </a:txBody>
                  <a:tcPr>
                    <a:solidFill>
                      <a:srgbClr val="051C2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Action</a:t>
                      </a:r>
                    </a:p>
                  </a:txBody>
                  <a:tcPr>
                    <a:solidFill>
                      <a:srgbClr val="051C2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Outcome</a:t>
                      </a:r>
                    </a:p>
                  </a:txBody>
                  <a:tcPr>
                    <a:solidFill>
                      <a:srgbClr val="051C2C"/>
                    </a:solidFill>
                  </a:tcPr>
                </a:tc>
              </a:tr>
              <a:tr h="539496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  <a:latin typeface="Calibri"/>
                        </a:rPr>
                        <a:t>CFO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  <a:latin typeface="Calibri"/>
                        </a:rPr>
                        <a:t>Finalize term sheet with Partner X by 2026-08, including capex governance framework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  <a:latin typeface="Calibri"/>
                        </a:rPr>
                        <a:t>Capital commitment locked, board-ready terms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39496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  <a:latin typeface="Calibri"/>
                        </a:rPr>
                        <a:t>COO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  <a:latin typeface="Calibri"/>
                        </a:rPr>
                        <a:t>Stand up JV operations team and 24-month launch plan by 2026-09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  <a:latin typeface="Calibri"/>
                        </a:rPr>
                        <a:t>Launch readiness for Q3 go-live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39496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  <a:latin typeface="Calibri"/>
                        </a:rPr>
                        <a:t>CMO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  <a:latin typeface="Calibri"/>
                        </a:rPr>
                        <a:t>Brand localization, trade marketing plan, and category lead hires by 2026-09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  <a:latin typeface="Calibri"/>
                        </a:rPr>
                        <a:t>Market activation playbook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39496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  <a:latin typeface="Calibri"/>
                        </a:rPr>
                        <a:t>General Counsel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  <a:latin typeface="Calibri"/>
                        </a:rPr>
                        <a:t>Regulatory submission via partner's licenses, IP transfer agreements by 2026-08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  <a:latin typeface="Calibri"/>
                        </a:rPr>
                        <a:t>Regulatory and IP cleared for launch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9905695" y="6400800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0" i="0">
                <a:solidFill>
                  <a:srgbClr val="949BA8"/>
                </a:solidFill>
                <a:latin typeface="Calibri"/>
              </a:rPr>
              <a:t>Page 11 / 14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017520"/>
            <a:ext cx="11277295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4400" b="0" i="0">
                <a:solidFill>
                  <a:srgbClr val="051C2C"/>
                </a:solidFill>
                <a:latin typeface="Georgia"/>
              </a:rPr>
              <a:t>Appendix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3931920"/>
            <a:ext cx="11277295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1">
                <a:solidFill>
                  <a:srgbClr val="949BA8"/>
                </a:solidFill>
                <a:latin typeface="Calibri"/>
              </a:rPr>
              <a:t>Backup detail and supporting analysis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905695" y="6400800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0" i="0">
                <a:solidFill>
                  <a:srgbClr val="949BA8"/>
                </a:solidFill>
                <a:latin typeface="Calibri"/>
              </a:rPr>
              <a:t>Page 12 / 14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1277295" cy="64008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800" b="0" i="0">
                <a:solidFill>
                  <a:srgbClr val="051C2C"/>
                </a:solidFill>
                <a:latin typeface="Georgia"/>
              </a:rPr>
              <a:t>Vietnam JV reaches breakeven month 14, $180M revenue and 18% EBITDA margin by Year 5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457200" y="1051560"/>
            <a:ext cx="11277295" cy="0"/>
          </a:xfrm>
          <a:prstGeom prst="line">
            <a:avLst/>
          </a:prstGeom>
          <a:ln w="9525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457200" y="1417320"/>
          <a:ext cx="11277295" cy="393192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457200" y="1188720"/>
            <a:ext cx="73152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1">
                <a:solidFill>
                  <a:srgbClr val="949BA8"/>
                </a:solidFill>
                <a:latin typeface="Calibri"/>
              </a:rPr>
              <a:t>USD millions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126480"/>
            <a:ext cx="11277295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 i="1">
                <a:solidFill>
                  <a:srgbClr val="949BA8"/>
                </a:solidFill>
                <a:latin typeface="Calibri"/>
              </a:rPr>
              <a:t>* Base case. Sensitivity range +/- 25% on Year 5 revenue; refer to corporate development model.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00800"/>
            <a:ext cx="8457971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 i="0">
                <a:solidFill>
                  <a:srgbClr val="949BA8"/>
                </a:solidFill>
                <a:latin typeface="Calibri"/>
              </a:rPr>
              <a:t>Source: Acme corporate development model,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905695" y="6400800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0" i="0">
                <a:solidFill>
                  <a:srgbClr val="949BA8"/>
                </a:solidFill>
                <a:latin typeface="Calibri"/>
              </a:rPr>
              <a:t>Page 13 / 14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1277295" cy="64008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800" b="0" i="0">
                <a:solidFill>
                  <a:srgbClr val="051C2C"/>
                </a:solidFill>
                <a:latin typeface="Georgia"/>
              </a:rPr>
              <a:t>Partner X due diligence validates distribution and regulatory; capex governance is the only open issue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457200" y="1051560"/>
            <a:ext cx="11277295" cy="0"/>
          </a:xfrm>
          <a:prstGeom prst="line">
            <a:avLst/>
          </a:prstGeom>
          <a:ln w="9525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457200" y="1234440"/>
            <a:ext cx="11277295" cy="48006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lnSpc>
                <a:spcPct val="130000"/>
              </a:lnSpc>
              <a:spcAft>
                <a:spcPts val="1000"/>
              </a:spcAft>
            </a:pPr>
            <a:r>
              <a:rPr sz="1400">
                <a:solidFill>
                  <a:srgbClr val="051C2C"/>
                </a:solidFill>
                <a:latin typeface="Calibri"/>
              </a:rPr>
              <a:t>•   </a:t>
            </a:r>
            <a:r>
              <a:rPr sz="1400">
                <a:solidFill>
                  <a:srgbClr val="1A1A1A"/>
                </a:solidFill>
                <a:latin typeface="Calibri"/>
              </a:rPr>
              <a:t>Distribution: 12,000 stores across 63 provinces, modern and traditional trade balance of 60/40, validated against POS data</a:t>
            </a:r>
          </a:p>
          <a:p>
            <a:pPr algn="l">
              <a:lnSpc>
                <a:spcPct val="130000"/>
              </a:lnSpc>
              <a:spcAft>
                <a:spcPts val="1000"/>
              </a:spcAft>
            </a:pPr>
            <a:r>
              <a:rPr sz="1400">
                <a:solidFill>
                  <a:srgbClr val="051C2C"/>
                </a:solidFill>
                <a:latin typeface="Calibri"/>
              </a:rPr>
              <a:t>•   </a:t>
            </a:r>
            <a:r>
              <a:rPr sz="1400">
                <a:solidFill>
                  <a:srgbClr val="1A1A1A"/>
                </a:solidFill>
                <a:latin typeface="Calibri"/>
              </a:rPr>
              <a:t>Regulatory: holds nine of the eleven category licenses Acme requires; remaining two are partner-application-eligible</a:t>
            </a:r>
          </a:p>
          <a:p>
            <a:pPr algn="l">
              <a:lnSpc>
                <a:spcPct val="130000"/>
              </a:lnSpc>
              <a:spcAft>
                <a:spcPts val="1000"/>
              </a:spcAft>
            </a:pPr>
            <a:r>
              <a:rPr sz="1400">
                <a:solidFill>
                  <a:srgbClr val="051C2C"/>
                </a:solidFill>
                <a:latin typeface="Calibri"/>
              </a:rPr>
              <a:t>•   </a:t>
            </a:r>
            <a:r>
              <a:rPr sz="1400">
                <a:solidFill>
                  <a:srgbClr val="1A1A1A"/>
                </a:solidFill>
                <a:latin typeface="Calibri"/>
              </a:rPr>
              <a:t>Capex governance: Partner X prefers unanimous-consent for capex over $5M; Acme counterproposal sets threshold at $15M</a:t>
            </a:r>
          </a:p>
          <a:p>
            <a:pPr algn="l">
              <a:lnSpc>
                <a:spcPct val="130000"/>
              </a:lnSpc>
              <a:spcAft>
                <a:spcPts val="1000"/>
              </a:spcAft>
            </a:pPr>
            <a:r>
              <a:rPr sz="1400">
                <a:solidFill>
                  <a:srgbClr val="051C2C"/>
                </a:solidFill>
                <a:latin typeface="Calibri"/>
              </a:rPr>
              <a:t>•   </a:t>
            </a:r>
            <a:r>
              <a:rPr sz="1400">
                <a:solidFill>
                  <a:srgbClr val="1A1A1A"/>
                </a:solidFill>
                <a:latin typeface="Calibri"/>
              </a:rPr>
              <a:t>Financial: audited financials reviewed by Big Four; net leverage 1.8x, no covenant issues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00800"/>
            <a:ext cx="8457971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 i="0">
                <a:solidFill>
                  <a:srgbClr val="949BA8"/>
                </a:solidFill>
                <a:latin typeface="Calibri"/>
              </a:rPr>
              <a:t>Source: Acme partner due diligence and external auditor review, 2025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905695" y="6400800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0" i="0">
                <a:solidFill>
                  <a:srgbClr val="949BA8"/>
                </a:solidFill>
                <a:latin typeface="Calibri"/>
              </a:rPr>
              <a:t>Page 14 / 14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